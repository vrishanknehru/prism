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7" roundtripDataSignature="AMtx7mgQuomGbdS/wh2yqkB/K4YAZ70YA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customschemas.google.com/relationships/presentationmetadata" Target="metadata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" name="Google Shape;87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9" name="Google Shape;159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Closing slide. Add the Google Form URL and a contact email before sharing. Edition 2 organising team for reference: Language AI - Sourabh Tiwari, Gaurav, Sanjeeth Pothireddy, Gorang Maniar; PRISM - Binny Lakra, Prakhar Chandrakar, Vishu Kumar; Kick-off and mentors - Giridhar Jakki, Deepraj Prabhakar Patkar (Language AI), Srimanu Prasad Nagaraju, Ashish Kumar (Tech Strategy).</a:t>
            </a:r>
            <a:endParaRPr/>
          </a:p>
        </p:txBody>
      </p:sp>
      <p:sp>
        <p:nvSpPr>
          <p:cNvPr id="160" name="Google Shape;160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1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" name="Google Shape;19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6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16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5" name="Google Shape;25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7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7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1" name="Google Shape;31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8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18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8" name="Google Shape;38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9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9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4" name="Google Shape;44;p19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5" name="Google Shape;45;p19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6" name="Google Shape;46;p19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7" name="Google Shape;47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2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22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2" name="Google Shape;62;p22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3" name="Google Shape;63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3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23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9" name="Google Shape;69;p23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0" name="Google Shape;70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2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24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6" name="Google Shape;76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5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25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2" name="Google Shape;82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"/>
          <p:cNvSpPr/>
          <p:nvPr/>
        </p:nvSpPr>
        <p:spPr>
          <a:xfrm>
            <a:off x="777240" y="676656"/>
            <a:ext cx="2423160" cy="347472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12700">
            <a:solidFill>
              <a:srgbClr val="D9D3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1"/>
          <p:cNvSpPr txBox="1"/>
          <p:nvPr/>
        </p:nvSpPr>
        <p:spPr>
          <a:xfrm>
            <a:off x="777240" y="676656"/>
            <a:ext cx="24231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D28D9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6D28D9"/>
                </a:solidFill>
                <a:latin typeface="Arial"/>
                <a:ea typeface="Arial"/>
                <a:cs typeface="Arial"/>
                <a:sym typeface="Arial"/>
              </a:rPr>
              <a:t>SAMSUNG PRISM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"/>
          <p:cNvSpPr txBox="1"/>
          <p:nvPr/>
        </p:nvSpPr>
        <p:spPr>
          <a:xfrm>
            <a:off x="777240" y="1207008"/>
            <a:ext cx="612648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42B"/>
              </a:buClr>
              <a:buSzPts val="5000"/>
              <a:buFont typeface="Arial"/>
              <a:buNone/>
            </a:pPr>
            <a:r>
              <a:rPr b="1" i="0" lang="en-US" sz="5000" u="none" cap="none" strike="noStrike">
                <a:solidFill>
                  <a:srgbClr val="14142B"/>
                </a:solidFill>
                <a:latin typeface="Arial"/>
                <a:ea typeface="Arial"/>
                <a:cs typeface="Arial"/>
                <a:sym typeface="Arial"/>
              </a:rPr>
              <a:t>Generative AI</a:t>
            </a:r>
            <a:endParaRPr b="0" i="0" sz="5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"/>
          <p:cNvSpPr txBox="1"/>
          <p:nvPr/>
        </p:nvSpPr>
        <p:spPr>
          <a:xfrm>
            <a:off x="777240" y="1901952"/>
            <a:ext cx="612648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D28D9"/>
              </a:buClr>
              <a:buSzPts val="5000"/>
              <a:buFont typeface="Arial"/>
              <a:buNone/>
            </a:pPr>
            <a:r>
              <a:rPr b="1" i="0" lang="en-US" sz="5000" u="none" cap="none" strike="noStrike">
                <a:solidFill>
                  <a:srgbClr val="6D28D9"/>
                </a:solidFill>
                <a:latin typeface="Arial"/>
                <a:ea typeface="Arial"/>
                <a:cs typeface="Arial"/>
                <a:sym typeface="Arial"/>
              </a:rPr>
              <a:t>Hackathon</a:t>
            </a:r>
            <a:endParaRPr b="0" i="0" sz="5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"/>
          <p:cNvSpPr txBox="1"/>
          <p:nvPr/>
        </p:nvSpPr>
        <p:spPr>
          <a:xfrm>
            <a:off x="777240" y="2724912"/>
            <a:ext cx="6126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42B"/>
              </a:buClr>
              <a:buSzPts val="2500"/>
              <a:buFont typeface="Arial"/>
              <a:buNone/>
            </a:pPr>
            <a:r>
              <a:rPr b="1" i="0" lang="en-US" sz="2500" u="none" cap="none" strike="noStrike">
                <a:solidFill>
                  <a:srgbClr val="14142B"/>
                </a:solidFill>
                <a:latin typeface="Arial"/>
                <a:ea typeface="Arial"/>
                <a:cs typeface="Arial"/>
                <a:sym typeface="Arial"/>
              </a:rPr>
              <a:t>3rd Edition</a:t>
            </a:r>
            <a:r>
              <a:rPr b="0" i="0" lang="en-US" sz="2000" u="none" cap="none" strike="noStrike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   2026 – 27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"/>
          <p:cNvSpPr txBox="1"/>
          <p:nvPr/>
        </p:nvSpPr>
        <p:spPr>
          <a:xfrm>
            <a:off x="777240" y="3310128"/>
            <a:ext cx="58521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63637E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Theme ID - 01, Agentic Code Intelligence</a:t>
            </a:r>
            <a:endParaRPr/>
          </a:p>
          <a:p>
            <a:pPr indent="-177800" lvl="0" marL="177800" marR="0" rtl="0" algn="l">
              <a:spcBef>
                <a:spcPts val="500"/>
              </a:spcBef>
              <a:spcAft>
                <a:spcPts val="0"/>
              </a:spcAft>
              <a:buClr>
                <a:srgbClr val="63637E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Team Name - phar$yde</a:t>
            </a:r>
            <a:endParaRPr/>
          </a:p>
          <a:p>
            <a:pPr indent="-177800" lvl="0" marL="177800" marR="0" rtl="0" algn="l">
              <a:spcBef>
                <a:spcPts val="500"/>
              </a:spcBef>
              <a:spcAft>
                <a:spcPts val="0"/>
              </a:spcAft>
              <a:buClr>
                <a:srgbClr val="63637E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College Name - Thapar Institute of Engineering and Technology, Patiala</a:t>
            </a:r>
            <a:endParaRPr/>
          </a:p>
          <a:p>
            <a:pPr indent="-177800" lvl="0" marL="177800" marR="0" rtl="0" algn="l">
              <a:spcBef>
                <a:spcPts val="500"/>
              </a:spcBef>
              <a:spcAft>
                <a:spcPts val="0"/>
              </a:spcAft>
              <a:buClr>
                <a:srgbClr val="63637E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Member Name &amp; Email 1- Manvi, manvivemula17@gmail.com</a:t>
            </a:r>
            <a:endParaRPr/>
          </a:p>
          <a:p>
            <a:pPr indent="-177800" lvl="0" marL="177800" marR="0" rtl="0" algn="l">
              <a:spcBef>
                <a:spcPts val="500"/>
              </a:spcBef>
              <a:spcAft>
                <a:spcPts val="0"/>
              </a:spcAft>
              <a:buClr>
                <a:srgbClr val="63637E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Member Name &amp; Email 2- Vrishank, vrishank06@gmail.com</a:t>
            </a:r>
            <a:endParaRPr/>
          </a:p>
          <a:p>
            <a:pPr indent="-76200" lvl="0" marL="177800" marR="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rgbClr val="63637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hero_network.png" id="96" name="Google Shape;96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59168" y="1051560"/>
            <a:ext cx="4572000" cy="457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b="1" lang="en-US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Theme</a:t>
            </a:r>
            <a:endParaRPr/>
          </a:p>
        </p:txBody>
      </p:sp>
      <p:sp>
        <p:nvSpPr>
          <p:cNvPr id="102" name="Google Shape;102;p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1" name="lbl501"/>
          <p:cNvSpPr txBox="1"/>
          <p:nvPr/>
        </p:nvSpPr>
        <p:spPr>
          <a:xfrm>
            <a:off x="838200" y="1825625"/>
            <a:ext cx="10515600" cy="3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Theme 01 — Agentic Code Intelligence</a:t>
            </a:r>
          </a:p>
        </p:txBody>
      </p:sp>
      <p:sp>
        <p:nvSpPr>
          <p:cNvPr id="502" name="box502"/>
          <p:cNvSpPr/>
          <p:nvPr/>
        </p:nvSpPr>
        <p:spPr>
          <a:xfrm>
            <a:off x="838200" y="2300000"/>
            <a:ext cx="10515600" cy="750000"/>
          </a:xfrm>
          <a:prstGeom prst="roundRect">
            <a:avLst>
              <a:gd fmla="val 6500" name="adj"/>
            </a:avLst>
          </a:prstGeom>
          <a:solidFill>
            <a:srgbClr val="F5F3FB"/>
          </a:solidFill>
          <a:ln w="25400" cap="flat" cmpd="sng">
            <a:solidFill>
              <a:srgbClr val="6D28D9"/>
            </a:solidFill>
            <a:prstDash val="solid"/>
          </a:ln>
        </p:spPr>
        <p:txBody>
          <a:bodyPr anchorCtr="0" anchor="ctr" bIns="45720" lIns="137160" spcFirstLastPara="1" rIns="137160" wrap="square" tIns="45720">
            <a:normAutofit fontScale="100000"/>
          </a:bodyPr>
          <a:lstStyle/>
          <a:p>
            <a:pPr indent="0" lvl="0" marL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14142B"/>
                </a:solidFill>
                <a:latin typeface="Calibri"/>
                <a:ea typeface="Calibri"/>
                <a:cs typeface="Calibri"/>
                <a:sym typeface="Calibri"/>
              </a:rPr>
              <a:t>Plain-English question → ranked code snippets with exact file:line locations</a:t>
            </a:r>
          </a:p>
        </p:txBody>
      </p:sp>
      <p:sp>
        <p:nvSpPr>
          <p:cNvPr id="503" name="box503"/>
          <p:cNvSpPr/>
          <p:nvPr/>
        </p:nvSpPr>
        <p:spPr>
          <a:xfrm>
            <a:off x="838200" y="3230000"/>
            <a:ext cx="5092800" cy="1150000"/>
          </a:xfrm>
          <a:prstGeom prst="roundRect">
            <a:avLst>
              <a:gd fmla="val 6500" name="adj"/>
            </a:avLst>
          </a:prstGeom>
          <a:solidFill>
            <a:srgbClr val="FFFFFF"/>
          </a:solidFill>
          <a:ln w="12700" cap="flat" cmpd="sng">
            <a:solidFill>
              <a:srgbClr val="704EA6"/>
            </a:solidFill>
            <a:prstDash val="solid"/>
          </a:ln>
        </p:spPr>
        <p:txBody>
          <a:bodyPr anchorCtr="0" anchor="ctr" bIns="45720" lIns="137160" spcFirstLastPara="1" rIns="137160" wrap="square" tIns="45720">
            <a:normAutofit fontScale="100000"/>
          </a:bodyPr>
          <a:lstStyle/>
          <a:p>
            <a:pPr indent="0" lvl="0" marL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50">
                <a:solidFill>
                  <a:srgbClr val="14142B"/>
                </a:solidFill>
                <a:latin typeface="Calibri"/>
                <a:ea typeface="Calibri"/>
                <a:cs typeface="Calibri"/>
                <a:sym typeface="Calibri"/>
              </a:rPr>
              <a:t>Usage query</a:t>
            </a:r>
          </a:p>
          <a:p>
            <a:pPr indent="0" lvl="0" marL="0" rtl="0" algn="ctr">
              <a:lnSpc>
                <a:spcPct val="112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“Where is the Bluetooth-settings</a:t>
            </a:r>
          </a:p>
          <a:p>
            <a:pPr indent="0" lvl="0" marL="0" rtl="0" algn="ctr">
              <a:lnSpc>
                <a:spcPct val="112000"/>
              </a:lnSpc>
              <a:spcBef>
                <a:spcPts val="15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deeplink used?”</a:t>
            </a:r>
          </a:p>
        </p:txBody>
      </p:sp>
      <p:sp>
        <p:nvSpPr>
          <p:cNvPr id="504" name="box504"/>
          <p:cNvSpPr/>
          <p:nvPr/>
        </p:nvSpPr>
        <p:spPr>
          <a:xfrm>
            <a:off x="6261000" y="3230000"/>
            <a:ext cx="5092800" cy="1150000"/>
          </a:xfrm>
          <a:prstGeom prst="roundRect">
            <a:avLst>
              <a:gd fmla="val 6500" name="adj"/>
            </a:avLst>
          </a:prstGeom>
          <a:solidFill>
            <a:srgbClr val="FFFFFF"/>
          </a:solidFill>
          <a:ln w="12700" cap="flat" cmpd="sng">
            <a:solidFill>
              <a:srgbClr val="704EA6"/>
            </a:solidFill>
            <a:prstDash val="solid"/>
          </a:ln>
        </p:spPr>
        <p:txBody>
          <a:bodyPr anchorCtr="0" anchor="ctr" bIns="45720" lIns="137160" spcFirstLastPara="1" rIns="137160" wrap="square" tIns="45720">
            <a:normAutofit fontScale="100000"/>
          </a:bodyPr>
          <a:lstStyle/>
          <a:p>
            <a:pPr indent="0" lvl="0" marL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50">
                <a:solidFill>
                  <a:srgbClr val="14142B"/>
                </a:solidFill>
                <a:latin typeface="Calibri"/>
                <a:ea typeface="Calibri"/>
                <a:cs typeface="Calibri"/>
                <a:sym typeface="Calibri"/>
              </a:rPr>
              <a:t>Structural query</a:t>
            </a:r>
          </a:p>
          <a:p>
            <a:pPr indent="0" lvl="0" marL="0" rtl="0" algn="ctr">
              <a:lnSpc>
                <a:spcPct val="112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“Which files call tool XYZ</a:t>
            </a:r>
          </a:p>
          <a:p>
            <a:pPr indent="0" lvl="0" marL="0" rtl="0" algn="ctr">
              <a:lnSpc>
                <a:spcPct val="112000"/>
              </a:lnSpc>
              <a:spcBef>
                <a:spcPts val="15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before tool ABC?”</a:t>
            </a:r>
          </a:p>
        </p:txBody>
      </p:sp>
      <p:sp>
        <p:nvSpPr>
          <p:cNvPr id="505" name="lbl505"/>
          <p:cNvSpPr txBox="1"/>
          <p:nvPr/>
        </p:nvSpPr>
        <p:spPr>
          <a:xfrm>
            <a:off x="838200" y="4560000"/>
            <a:ext cx="10515600" cy="3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Constraints</a:t>
            </a:r>
          </a:p>
        </p:txBody>
      </p:sp>
      <p:sp>
        <p:nvSpPr>
          <p:cNvPr id="506" name="box506"/>
          <p:cNvSpPr/>
          <p:nvPr/>
        </p:nvSpPr>
        <p:spPr>
          <a:xfrm>
            <a:off x="838200" y="4960000"/>
            <a:ext cx="3351866" cy="1150000"/>
          </a:xfrm>
          <a:prstGeom prst="roundRect">
            <a:avLst>
              <a:gd fmla="val 6500" name="adj"/>
            </a:avLst>
          </a:prstGeom>
          <a:solidFill>
            <a:srgbClr val="FFFFFF"/>
          </a:solidFill>
          <a:ln w="12700" cap="flat" cmpd="sng">
            <a:solidFill>
              <a:srgbClr val="704EA6"/>
            </a:solidFill>
            <a:prstDash val="solid"/>
          </a:ln>
        </p:spPr>
        <p:txBody>
          <a:bodyPr anchorCtr="0" anchor="ctr" bIns="45720" lIns="137160" spcFirstLastPara="1" rIns="137160" wrap="square" tIns="45720">
            <a:normAutofit fontScale="100000"/>
          </a:bodyPr>
          <a:lstStyle/>
          <a:p>
            <a:pPr indent="0" lvl="0" marL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14142B"/>
                </a:solidFill>
                <a:latin typeface="Calibri"/>
                <a:ea typeface="Calibri"/>
                <a:cs typeface="Calibri"/>
                <a:sym typeface="Calibri"/>
              </a:rPr>
              <a:t>Single language</a:t>
            </a:r>
          </a:p>
          <a:p>
            <a:pPr indent="0" lvl="0" marL="0" rtl="0" algn="ctr">
              <a:lnSpc>
                <a:spcPct val="112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0" lang="en-US" sz="95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JavaScript — sample codebase</a:t>
            </a:r>
          </a:p>
        </p:txBody>
      </p:sp>
      <p:sp>
        <p:nvSpPr>
          <p:cNvPr id="507" name="box507"/>
          <p:cNvSpPr/>
          <p:nvPr/>
        </p:nvSpPr>
        <p:spPr>
          <a:xfrm>
            <a:off x="4420066" y="4960000"/>
            <a:ext cx="3351866" cy="1150000"/>
          </a:xfrm>
          <a:prstGeom prst="roundRect">
            <a:avLst>
              <a:gd fmla="val 6500" name="adj"/>
            </a:avLst>
          </a:prstGeom>
          <a:solidFill>
            <a:srgbClr val="F5F3FB"/>
          </a:solidFill>
          <a:ln w="25400" cap="flat" cmpd="sng">
            <a:solidFill>
              <a:srgbClr val="6D28D9"/>
            </a:solidFill>
            <a:prstDash val="solid"/>
          </a:ln>
        </p:spPr>
        <p:txBody>
          <a:bodyPr anchorCtr="0" anchor="ctr" bIns="45720" lIns="137160" spcFirstLastPara="1" rIns="137160" wrap="square" tIns="45720">
            <a:normAutofit fontScale="100000"/>
          </a:bodyPr>
          <a:lstStyle/>
          <a:p>
            <a:pPr indent="0" lvl="0" marL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14142B"/>
                </a:solidFill>
                <a:latin typeface="Calibri"/>
                <a:ea typeface="Calibri"/>
                <a:cs typeface="Calibri"/>
                <a:sym typeface="Calibri"/>
              </a:rPr>
              <a:t>CPU-only</a:t>
            </a:r>
          </a:p>
          <a:p>
            <a:pPr indent="0" lvl="0" marL="0" rtl="0" algn="ctr">
              <a:lnSpc>
                <a:spcPct val="112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0" lang="en-US" sz="95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Minimal GPU use</a:t>
            </a:r>
          </a:p>
        </p:txBody>
      </p:sp>
      <p:sp>
        <p:nvSpPr>
          <p:cNvPr id="508" name="box508"/>
          <p:cNvSpPr/>
          <p:nvPr/>
        </p:nvSpPr>
        <p:spPr>
          <a:xfrm>
            <a:off x="8001932" y="4960000"/>
            <a:ext cx="3351866" cy="1150000"/>
          </a:xfrm>
          <a:prstGeom prst="roundRect">
            <a:avLst>
              <a:gd fmla="val 6500" name="adj"/>
            </a:avLst>
          </a:prstGeom>
          <a:solidFill>
            <a:srgbClr val="FFFFFF"/>
          </a:solidFill>
          <a:ln w="12700" cap="flat" cmpd="sng">
            <a:solidFill>
              <a:srgbClr val="704EA6"/>
            </a:solidFill>
            <a:prstDash val="solid"/>
          </a:ln>
        </p:spPr>
        <p:txBody>
          <a:bodyPr anchorCtr="0" anchor="ctr" bIns="45720" lIns="137160" spcFirstLastPara="1" rIns="137160" wrap="square" tIns="45720">
            <a:normAutofit fontScale="100000"/>
          </a:bodyPr>
          <a:lstStyle/>
          <a:p>
            <a:pPr indent="0" lvl="0" marL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14142B"/>
                </a:solidFill>
                <a:latin typeface="Calibri"/>
                <a:ea typeface="Calibri"/>
                <a:cs typeface="Calibri"/>
                <a:sym typeface="Calibri"/>
              </a:rPr>
              <a:t>CoIR “apps” eval</a:t>
            </a:r>
          </a:p>
          <a:p>
            <a:pPr indent="0" lvl="0" marL="0" rtl="0" algn="ctr">
              <a:lnSpc>
                <a:spcPct val="112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0" lang="en-US" sz="95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NDCG@10 · MRR + P1/bonus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b="1" lang="en-US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Existing Solutions &amp; Gaps</a:t>
            </a:r>
            <a:endParaRPr/>
          </a:p>
        </p:txBody>
      </p:sp>
      <p:sp>
        <p:nvSpPr>
          <p:cNvPr id="108" name="Google Shape;108;p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9" name="box509"/>
          <p:cNvSpPr/>
          <p:nvPr/>
        </p:nvSpPr>
        <p:spPr>
          <a:xfrm>
            <a:off x="838200" y="2000000"/>
            <a:ext cx="3351866" cy="1850000"/>
          </a:xfrm>
          <a:prstGeom prst="roundRect">
            <a:avLst>
              <a:gd fmla="val 6500" name="adj"/>
            </a:avLst>
          </a:prstGeom>
          <a:solidFill>
            <a:srgbClr val="FFFFFF"/>
          </a:solidFill>
          <a:ln w="12700" cap="flat" cmpd="sng">
            <a:solidFill>
              <a:srgbClr val="704EA6"/>
            </a:solidFill>
            <a:prstDash val="solid"/>
          </a:ln>
        </p:spPr>
        <p:txBody>
          <a:bodyPr anchorCtr="0" anchor="ctr" bIns="45720" lIns="137160" spcFirstLastPara="1" rIns="137160" wrap="square" tIns="45720">
            <a:normAutofit fontScale="100000"/>
          </a:bodyPr>
          <a:lstStyle/>
          <a:p>
            <a:pPr indent="0" lvl="0" marL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14142B"/>
                </a:solidFill>
                <a:latin typeface="Calibri"/>
                <a:ea typeface="Calibri"/>
                <a:cs typeface="Calibri"/>
                <a:sym typeface="Calibri"/>
              </a:rPr>
              <a:t>Dense Embeddings</a:t>
            </a:r>
          </a:p>
          <a:p>
            <a:pPr indent="0" lvl="0" marL="0" rtl="0" algn="l">
              <a:lnSpc>
                <a:spcPct val="112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✓ Strong semantic match — tops CoIR leaderboards</a:t>
            </a:r>
          </a:p>
          <a:p>
            <a:pPr indent="0" lvl="0" marL="0" rtl="0" algn="l">
              <a:lnSpc>
                <a:spcPct val="112000"/>
              </a:lnSpc>
              <a:spcBef>
                <a:spcPts val="15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Gap: weak on near-duplicate code (29–42% precision)</a:t>
            </a:r>
          </a:p>
        </p:txBody>
      </p:sp>
      <p:sp>
        <p:nvSpPr>
          <p:cNvPr id="510" name="box510"/>
          <p:cNvSpPr/>
          <p:nvPr/>
        </p:nvSpPr>
        <p:spPr>
          <a:xfrm>
            <a:off x="4420066" y="2000000"/>
            <a:ext cx="3351866" cy="1850000"/>
          </a:xfrm>
          <a:prstGeom prst="roundRect">
            <a:avLst>
              <a:gd fmla="val 6500" name="adj"/>
            </a:avLst>
          </a:prstGeom>
          <a:solidFill>
            <a:srgbClr val="FFFFFF"/>
          </a:solidFill>
          <a:ln w="12700" cap="flat" cmpd="sng">
            <a:solidFill>
              <a:srgbClr val="704EA6"/>
            </a:solidFill>
            <a:prstDash val="solid"/>
          </a:ln>
        </p:spPr>
        <p:txBody>
          <a:bodyPr anchorCtr="0" anchor="ctr" bIns="45720" lIns="137160" spcFirstLastPara="1" rIns="137160" wrap="square" tIns="45720">
            <a:normAutofit fontScale="100000"/>
          </a:bodyPr>
          <a:lstStyle/>
          <a:p>
            <a:pPr indent="0" lvl="0" marL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14142B"/>
                </a:solidFill>
                <a:latin typeface="Calibri"/>
                <a:ea typeface="Calibri"/>
                <a:cs typeface="Calibri"/>
                <a:sym typeface="Calibri"/>
              </a:rPr>
              <a:t>Structural / Graph</a:t>
            </a:r>
          </a:p>
          <a:p>
            <a:pPr indent="0" lvl="0" marL="0" rtl="0" algn="l">
              <a:lnSpc>
                <a:spcPct val="112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✓ 92–94% accuracy on relational queries</a:t>
            </a:r>
          </a:p>
          <a:p>
            <a:pPr indent="0" lvl="0" marL="0" rtl="0" algn="l">
              <a:lnSpc>
                <a:spcPct val="112000"/>
              </a:lnSpc>
              <a:spcBef>
                <a:spcPts val="15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Gap: ~15× token cost; indexes go stale</a:t>
            </a:r>
          </a:p>
        </p:txBody>
      </p:sp>
      <p:sp>
        <p:nvSpPr>
          <p:cNvPr id="511" name="box511"/>
          <p:cNvSpPr/>
          <p:nvPr/>
        </p:nvSpPr>
        <p:spPr>
          <a:xfrm>
            <a:off x="8001932" y="2000000"/>
            <a:ext cx="3351866" cy="1850000"/>
          </a:xfrm>
          <a:prstGeom prst="roundRect">
            <a:avLst>
              <a:gd fmla="val 6500" name="adj"/>
            </a:avLst>
          </a:prstGeom>
          <a:solidFill>
            <a:srgbClr val="FFFFFF"/>
          </a:solidFill>
          <a:ln w="12700" cap="flat" cmpd="sng">
            <a:solidFill>
              <a:srgbClr val="704EA6"/>
            </a:solidFill>
            <a:prstDash val="solid"/>
          </a:ln>
        </p:spPr>
        <p:txBody>
          <a:bodyPr anchorCtr="0" anchor="ctr" bIns="45720" lIns="137160" spcFirstLastPara="1" rIns="137160" wrap="square" tIns="45720">
            <a:normAutofit fontScale="100000"/>
          </a:bodyPr>
          <a:lstStyle/>
          <a:p>
            <a:pPr indent="0" lvl="0" marL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14142B"/>
                </a:solidFill>
                <a:latin typeface="Calibri"/>
                <a:ea typeface="Calibri"/>
                <a:cs typeface="Calibri"/>
                <a:sym typeface="Calibri"/>
              </a:rPr>
              <a:t>Agentic Loops</a:t>
            </a:r>
          </a:p>
          <a:p>
            <a:pPr indent="0" lvl="0" marL="0" rtl="0" algn="l">
              <a:lnSpc>
                <a:spcPct val="112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✓ Iterative search → read → refine</a:t>
            </a:r>
          </a:p>
          <a:p>
            <a:pPr indent="0" lvl="0" marL="0" rtl="0" algn="l">
              <a:lnSpc>
                <a:spcPct val="112000"/>
              </a:lnSpc>
              <a:spcBef>
                <a:spcPts val="15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Gap: fixed pipelines beat open-ended search</a:t>
            </a:r>
          </a:p>
        </p:txBody>
      </p:sp>
      <p:sp>
        <p:nvSpPr>
          <p:cNvPr id="512" name="box512"/>
          <p:cNvSpPr/>
          <p:nvPr/>
        </p:nvSpPr>
        <p:spPr>
          <a:xfrm>
            <a:off x="838200" y="4050000"/>
            <a:ext cx="10515600" cy="1050000"/>
          </a:xfrm>
          <a:prstGeom prst="roundRect">
            <a:avLst>
              <a:gd fmla="val 6500" name="adj"/>
            </a:avLst>
          </a:prstGeom>
          <a:solidFill>
            <a:srgbClr val="F5F3FB"/>
          </a:solidFill>
          <a:ln w="25400" cap="flat" cmpd="sng">
            <a:solidFill>
              <a:srgbClr val="6D28D9"/>
            </a:solidFill>
            <a:prstDash val="solid"/>
          </a:ln>
        </p:spPr>
        <p:txBody>
          <a:bodyPr anchorCtr="0" anchor="ctr" bIns="45720" lIns="137160" spcFirstLastPara="1" rIns="137160" wrap="square" tIns="45720">
            <a:normAutofit fontScale="100000"/>
          </a:bodyPr>
          <a:lstStyle/>
          <a:p>
            <a:pPr indent="0" lvl="0" marL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14142B"/>
                </a:solidFill>
                <a:latin typeface="Calibri"/>
                <a:ea typeface="Calibri"/>
                <a:cs typeface="Calibri"/>
                <a:sym typeface="Calibri"/>
              </a:rPr>
              <a:t>Our opportunity</a:t>
            </a:r>
          </a:p>
          <a:p>
            <a:pPr indent="0" lvl="0" marL="0" rtl="0" algn="ctr">
              <a:lnSpc>
                <a:spcPct val="112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CPU-only + version-aware retrieval — the thinnest-evidenced gap in the literature, and directly this problem's ask.</a:t>
            </a:r>
          </a:p>
        </p:txBody>
      </p:sp>
      <p:sp>
        <p:nvSpPr>
          <p:cNvPr id="513" name="lbl513"/>
          <p:cNvSpPr txBox="1"/>
          <p:nvPr/>
        </p:nvSpPr>
        <p:spPr>
          <a:xfrm>
            <a:off x="838200" y="5230000"/>
            <a:ext cx="10515600" cy="3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Full architecture → next slide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4"/>
          <p:cNvSpPr txBox="1"/>
          <p:nvPr>
            <p:ph type="title"/>
          </p:nvPr>
        </p:nvSpPr>
        <p:spPr>
          <a:xfrm>
            <a:off x="909917" y="266513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b="1" lang="en-US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Our Solutions &amp; Architecture Diagram</a:t>
            </a:r>
            <a:endParaRPr/>
          </a:p>
        </p:txBody>
      </p:sp>
      <p:sp>
        <p:nvSpPr>
          <p:cNvPr id="114" name="Google Shape;114;p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77800" lvl="0" marL="228600" marR="0" rtl="0" algn="l">
              <a:lnSpc>
                <a:spcPct val="105000"/>
              </a:lnSpc>
              <a:spcBef>
                <a:spcPts val="500"/>
              </a:spcBef>
              <a:spcAft>
                <a:spcPts val="0"/>
              </a:spcAft>
              <a:buClr>
                <a:srgbClr val="63637E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14142B"/>
                </a:solidFill>
                <a:latin typeface="Calibri"/>
                <a:ea typeface="Calibri"/>
                <a:cs typeface="Calibri"/>
                <a:sym typeface="Calibri"/>
              </a:rPr>
              <a:t>A three-signal pipeline — </a:t>
            </a:r>
            <a:r>
              <a:rPr b="1" i="0" lang="en-US" sz="1300" u="none" cap="none" strike="noStrike">
                <a:solidFill>
                  <a:srgbClr val="6D28D9"/>
                </a:solidFill>
                <a:latin typeface="Calibri"/>
                <a:ea typeface="Calibri"/>
                <a:cs typeface="Calibri"/>
                <a:sym typeface="Calibri"/>
              </a:rPr>
              <a:t>classify</a:t>
            </a:r>
            <a:r>
              <a:rPr b="0" i="0" lang="en-US" sz="1300" u="none" cap="none" strike="noStrike">
                <a:solidFill>
                  <a:srgbClr val="14142B"/>
                </a:solidFill>
                <a:latin typeface="Calibri"/>
                <a:ea typeface="Calibri"/>
                <a:cs typeface="Calibri"/>
                <a:sym typeface="Calibri"/>
              </a:rPr>
              <a:t> the query, </a:t>
            </a:r>
            <a:r>
              <a:rPr b="1" i="0" lang="en-US" sz="1300" u="none" cap="none" strike="noStrike">
                <a:solidFill>
                  <a:srgbClr val="6D28D9"/>
                </a:solidFill>
                <a:latin typeface="Calibri"/>
                <a:ea typeface="Calibri"/>
                <a:cs typeface="Calibri"/>
                <a:sym typeface="Calibri"/>
              </a:rPr>
              <a:t>retrieve</a:t>
            </a:r>
            <a:r>
              <a:rPr b="0" i="0" lang="en-US" sz="1300" u="none" cap="none" strike="noStrike">
                <a:solidFill>
                  <a:srgbClr val="14142B"/>
                </a:solidFill>
                <a:latin typeface="Calibri"/>
                <a:ea typeface="Calibri"/>
                <a:cs typeface="Calibri"/>
                <a:sym typeface="Calibri"/>
              </a:rPr>
              <a:t> with the matching signal(s), </a:t>
            </a:r>
            <a:r>
              <a:rPr b="1" i="0" lang="en-US" sz="1300" u="none" cap="none" strike="noStrike">
                <a:solidFill>
                  <a:srgbClr val="6D28D9"/>
                </a:solidFill>
                <a:latin typeface="Calibri"/>
                <a:ea typeface="Calibri"/>
                <a:cs typeface="Calibri"/>
                <a:sym typeface="Calibri"/>
              </a:rPr>
              <a:t>fuse</a:t>
            </a:r>
            <a:r>
              <a:rPr b="0" i="0" lang="en-US" sz="1300" u="none" cap="none" strike="noStrike">
                <a:solidFill>
                  <a:srgbClr val="14142B"/>
                </a:solidFill>
                <a:latin typeface="Calibri"/>
                <a:ea typeface="Calibri"/>
                <a:cs typeface="Calibri"/>
                <a:sym typeface="Calibri"/>
              </a:rPr>
              <a:t>, then </a:t>
            </a:r>
            <a:r>
              <a:rPr b="1" i="0" lang="en-US" sz="1300" u="none" cap="none" strike="noStrike">
                <a:solidFill>
                  <a:srgbClr val="6D28D9"/>
                </a:solidFill>
                <a:latin typeface="Calibri"/>
                <a:ea typeface="Calibri"/>
                <a:cs typeface="Calibri"/>
                <a:sym typeface="Calibri"/>
              </a:rPr>
              <a:t>refine</a:t>
            </a:r>
            <a:r>
              <a:rPr b="0" i="0" lang="en-US" sz="1300" u="none" cap="none" strike="noStrike">
                <a:solidFill>
                  <a:srgbClr val="14142B"/>
                </a:solidFill>
                <a:latin typeface="Calibri"/>
                <a:ea typeface="Calibri"/>
                <a:cs typeface="Calibri"/>
                <a:sym typeface="Calibri"/>
              </a:rPr>
              <a:t> — engineered from day one for CPU budgets and a codebase that keeps changing.</a:t>
            </a:r>
            <a:endParaRPr/>
          </a:p>
        </p:txBody>
      </p:sp>
      <p:sp>
        <p:nvSpPr>
          <p:cNvPr id="201" name="box201"/>
          <p:cNvSpPr/>
          <p:nvPr/>
        </p:nvSpPr>
        <p:spPr>
          <a:xfrm>
            <a:off x="838200" y="3750000"/>
            <a:ext cx="1350000" cy="1000000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w="12700" cap="flat" cmpd="sng">
            <a:solidFill>
              <a:srgbClr val="704EA6"/>
            </a:solidFill>
            <a:prstDash val="solid"/>
          </a:ln>
        </p:spPr>
        <p:txBody>
          <a:bodyPr anchorCtr="0" anchor="ctr" bIns="27432" lIns="45720" spcFirstLastPara="1" rIns="45720" wrap="square" tIns="27432">
            <a:normAutofit fontScale="100000"/>
          </a:bodyPr>
          <a:lstStyle/>
          <a:p>
            <a:pPr indent="0" lvl="0" marL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14142B"/>
                </a:solidFill>
                <a:latin typeface="Calibri"/>
                <a:ea typeface="Calibri"/>
                <a:cs typeface="Calibri"/>
                <a:sym typeface="Calibri"/>
              </a:rPr>
              <a:t>NL Query</a:t>
            </a:r>
          </a:p>
          <a:p>
            <a:pPr indent="0" lvl="0" marL="0" rtl="0" algn="ctr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developer or agent</a:t>
            </a:r>
          </a:p>
        </p:txBody>
      </p:sp>
      <p:sp>
        <p:nvSpPr>
          <p:cNvPr id="202" name="box202"/>
          <p:cNvSpPr/>
          <p:nvPr/>
        </p:nvSpPr>
        <p:spPr>
          <a:xfrm>
            <a:off x="2380000" y="3750000"/>
            <a:ext cx="1550000" cy="1000000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w="12700" cap="flat" cmpd="sng">
            <a:solidFill>
              <a:srgbClr val="704EA6"/>
            </a:solidFill>
            <a:prstDash val="solid"/>
          </a:ln>
        </p:spPr>
        <p:txBody>
          <a:bodyPr anchorCtr="0" anchor="ctr" bIns="27432" lIns="45720" spcFirstLastPara="1" rIns="45720" wrap="square" tIns="27432">
            <a:normAutofit fontScale="100000"/>
          </a:bodyPr>
          <a:lstStyle/>
          <a:p>
            <a:pPr indent="0" lvl="0" marL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14142B"/>
                </a:solidFill>
                <a:latin typeface="Calibri"/>
                <a:ea typeface="Calibri"/>
                <a:cs typeface="Calibri"/>
                <a:sym typeface="Calibri"/>
              </a:rPr>
              <a:t>Query Classifier</a:t>
            </a:r>
          </a:p>
          <a:p>
            <a:pPr indent="0" lvl="0" marL="0" rtl="0" algn="ctr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semantic vs. structural</a:t>
            </a:r>
          </a:p>
        </p:txBody>
      </p:sp>
      <p:sp>
        <p:nvSpPr>
          <p:cNvPr id="203" name="box203"/>
          <p:cNvSpPr/>
          <p:nvPr/>
        </p:nvSpPr>
        <p:spPr>
          <a:xfrm>
            <a:off x="4130000" y="2900000"/>
            <a:ext cx="1950000" cy="1150000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w="25400" cap="flat" cmpd="sng">
            <a:solidFill>
              <a:srgbClr val="704EA6"/>
            </a:solidFill>
            <a:prstDash val="solid"/>
          </a:ln>
        </p:spPr>
        <p:txBody>
          <a:bodyPr anchorCtr="0" anchor="ctr" bIns="27432" lIns="45720" spcFirstLastPara="1" rIns="45720" wrap="square" tIns="27432">
            <a:normAutofit fontScale="100000"/>
          </a:bodyPr>
          <a:lstStyle/>
          <a:p>
            <a:pPr indent="0" lvl="0" marL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14142B"/>
                </a:solidFill>
                <a:latin typeface="Calibri"/>
                <a:ea typeface="Calibri"/>
                <a:cs typeface="Calibri"/>
                <a:sym typeface="Calibri"/>
              </a:rPr>
              <a:t>Hybrid Retrieval</a:t>
            </a:r>
          </a:p>
          <a:p>
            <a:pPr indent="0" lvl="0" marL="0" rtl="0" algn="ctr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BM25 + CPU dense embeddings, cAST chunks</a:t>
            </a:r>
          </a:p>
        </p:txBody>
      </p:sp>
      <p:sp>
        <p:nvSpPr>
          <p:cNvPr id="204" name="box204"/>
          <p:cNvSpPr/>
          <p:nvPr/>
        </p:nvSpPr>
        <p:spPr>
          <a:xfrm>
            <a:off x="4130000" y="4450000"/>
            <a:ext cx="1950000" cy="1150000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w="25400" cap="flat" cmpd="sng">
            <a:solidFill>
              <a:srgbClr val="704EA6"/>
            </a:solidFill>
            <a:prstDash val="solid"/>
          </a:ln>
        </p:spPr>
        <p:txBody>
          <a:bodyPr anchorCtr="0" anchor="ctr" bIns="27432" lIns="45720" spcFirstLastPara="1" rIns="45720" wrap="square" tIns="27432">
            <a:normAutofit fontScale="100000"/>
          </a:bodyPr>
          <a:lstStyle/>
          <a:p>
            <a:pPr indent="0" lvl="0" marL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14142B"/>
                </a:solidFill>
                <a:latin typeface="Calibri"/>
                <a:ea typeface="Calibri"/>
                <a:cs typeface="Calibri"/>
                <a:sym typeface="Calibri"/>
              </a:rPr>
              <a:t>Structural Graph</a:t>
            </a:r>
          </a:p>
          <a:p>
            <a:pPr indent="0" lvl="0" marL="0" rtl="0" algn="ctr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tree-sitter AST + call-graph traversal</a:t>
            </a:r>
          </a:p>
        </p:txBody>
      </p:sp>
      <p:sp>
        <p:nvSpPr>
          <p:cNvPr id="205" name="box205"/>
          <p:cNvSpPr/>
          <p:nvPr/>
        </p:nvSpPr>
        <p:spPr>
          <a:xfrm>
            <a:off x="6280000" y="3750000"/>
            <a:ext cx="1550000" cy="1000000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w="12700" cap="flat" cmpd="sng">
            <a:solidFill>
              <a:srgbClr val="704EA6"/>
            </a:solidFill>
            <a:prstDash val="solid"/>
          </a:ln>
        </p:spPr>
        <p:txBody>
          <a:bodyPr anchorCtr="0" anchor="ctr" bIns="27432" lIns="45720" spcFirstLastPara="1" rIns="45720" wrap="square" tIns="27432">
            <a:normAutofit fontScale="100000"/>
          </a:bodyPr>
          <a:lstStyle/>
          <a:p>
            <a:pPr indent="0" lvl="0" marL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14142B"/>
                </a:solidFill>
                <a:latin typeface="Calibri"/>
                <a:ea typeface="Calibri"/>
                <a:cs typeface="Calibri"/>
                <a:sym typeface="Calibri"/>
              </a:rPr>
              <a:t>Fusion &amp; Rerank</a:t>
            </a:r>
          </a:p>
          <a:p>
            <a:pPr indent="0" lvl="0" marL="0" rtl="0" algn="ctr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RRF + light reranker</a:t>
            </a:r>
          </a:p>
        </p:txBody>
      </p:sp>
      <p:sp>
        <p:nvSpPr>
          <p:cNvPr id="206" name="box206"/>
          <p:cNvSpPr/>
          <p:nvPr/>
        </p:nvSpPr>
        <p:spPr>
          <a:xfrm>
            <a:off x="8030000" y="3750000"/>
            <a:ext cx="1650000" cy="1000000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w="12700" cap="flat" cmpd="sng">
            <a:solidFill>
              <a:srgbClr val="704EA6"/>
            </a:solidFill>
            <a:prstDash val="solid"/>
          </a:ln>
        </p:spPr>
        <p:txBody>
          <a:bodyPr anchorCtr="0" anchor="ctr" bIns="27432" lIns="45720" spcFirstLastPara="1" rIns="45720" wrap="square" tIns="27432">
            <a:normAutofit fontScale="100000"/>
          </a:bodyPr>
          <a:lstStyle/>
          <a:p>
            <a:pPr indent="0" lvl="0" marL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14142B"/>
                </a:solidFill>
                <a:latin typeface="Calibri"/>
                <a:ea typeface="Calibri"/>
                <a:cs typeface="Calibri"/>
                <a:sym typeface="Calibri"/>
              </a:rPr>
              <a:t>Agentic Refine</a:t>
            </a:r>
          </a:p>
          <a:p>
            <a:pPr indent="0" lvl="0" marL="0" rtl="0" algn="ctr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bounded, evidence-verified stop</a:t>
            </a:r>
          </a:p>
        </p:txBody>
      </p:sp>
      <p:sp>
        <p:nvSpPr>
          <p:cNvPr id="207" name="box207"/>
          <p:cNvSpPr/>
          <p:nvPr/>
        </p:nvSpPr>
        <p:spPr>
          <a:xfrm>
            <a:off x="9880000" y="3750000"/>
            <a:ext cx="1470000" cy="1000000"/>
          </a:xfrm>
          <a:prstGeom prst="roundRect">
            <a:avLst>
              <a:gd fmla="val 8000" name="adj"/>
            </a:avLst>
          </a:prstGeom>
          <a:solidFill>
            <a:srgbClr val="F5F3FB"/>
          </a:solidFill>
          <a:ln w="12700" cap="flat" cmpd="sng">
            <a:solidFill>
              <a:srgbClr val="6D28D9"/>
            </a:solidFill>
            <a:prstDash val="solid"/>
          </a:ln>
        </p:spPr>
        <p:txBody>
          <a:bodyPr anchorCtr="0" anchor="ctr" bIns="27432" lIns="45720" spcFirstLastPara="1" rIns="45720" wrap="square" tIns="27432">
            <a:normAutofit fontScale="100000"/>
          </a:bodyPr>
          <a:lstStyle/>
          <a:p>
            <a:pPr indent="0" lvl="0" marL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14142B"/>
                </a:solidFill>
                <a:latin typeface="Calibri"/>
                <a:ea typeface="Calibri"/>
                <a:cs typeface="Calibri"/>
                <a:sym typeface="Calibri"/>
              </a:rPr>
              <a:t>Ranked Output</a:t>
            </a:r>
          </a:p>
          <a:p>
            <a:pPr indent="0" lvl="0" marL="0" rtl="0" algn="ctr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snippets + file:line</a:t>
            </a:r>
          </a:p>
        </p:txBody>
      </p:sp>
      <p:sp>
        <p:nvSpPr>
          <p:cNvPr id="208" name="box208"/>
          <p:cNvSpPr/>
          <p:nvPr/>
        </p:nvSpPr>
        <p:spPr>
          <a:xfrm>
            <a:off x="4130000" y="5950000"/>
            <a:ext cx="1950000" cy="650000"/>
          </a:xfrm>
          <a:prstGeom prst="roundRect">
            <a:avLst>
              <a:gd fmla="val 8000" name="adj"/>
            </a:avLst>
          </a:prstGeom>
          <a:solidFill>
            <a:srgbClr val="F5F3FB"/>
          </a:solidFill>
          <a:ln w="12700" cap="flat" cmpd="sng">
            <a:solidFill>
              <a:srgbClr val="704EA6"/>
            </a:solidFill>
            <a:prstDash val="solid"/>
          </a:ln>
        </p:spPr>
        <p:txBody>
          <a:bodyPr anchorCtr="0" anchor="ctr" bIns="27432" lIns="45720" spcFirstLastPara="1" rIns="45720" wrap="square" tIns="27432">
            <a:normAutofit fontScale="100000"/>
          </a:bodyPr>
          <a:lstStyle/>
          <a:p>
            <a:pPr indent="0" lvl="0" marL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14142B"/>
                </a:solidFill>
                <a:latin typeface="Calibri"/>
                <a:ea typeface="Calibri"/>
                <a:cs typeface="Calibri"/>
                <a:sym typeface="Calibri"/>
              </a:rPr>
              <a:t>Versioned Index</a:t>
            </a:r>
          </a:p>
          <a:p>
            <a:pPr indent="0" lvl="0" marL="0" rtl="0" algn="ctr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incremental re-index on git diff</a:t>
            </a:r>
          </a:p>
        </p:txBody>
      </p:sp>
      <p:cxnSp>
        <p:nvCxnSpPr>
          <p:cNvPr id="209" name="conn209"/>
          <p:cNvCxnSpPr/>
          <p:nvPr/>
        </p:nvCxnSpPr>
        <p:spPr>
          <a:xfrm flipH="0" flipV="0">
            <a:off x="2188200" y="4250000"/>
            <a:ext cx="191800" cy="1"/>
          </a:xfrm>
          <a:prstGeom prst="straightConnector1">
            <a:avLst/>
          </a:prstGeom>
          <a:noFill/>
          <a:ln w="19050" cap="flat" cmpd="sng">
            <a:solidFill>
              <a:srgbClr val="63637E"/>
            </a:solidFill>
            <a:prstDash val="solid"/>
            <a:tailEnd len="med" w="med" type="triangle"/>
          </a:ln>
        </p:spPr>
      </p:cxnSp>
      <p:cxnSp>
        <p:nvCxnSpPr>
          <p:cNvPr id="210" name="conn210"/>
          <p:cNvCxnSpPr/>
          <p:nvPr/>
        </p:nvCxnSpPr>
        <p:spPr>
          <a:xfrm flipH="0" flipV="1">
            <a:off x="3930000" y="3475000"/>
            <a:ext cx="200000" cy="775000"/>
          </a:xfrm>
          <a:prstGeom prst="straightConnector1">
            <a:avLst/>
          </a:prstGeom>
          <a:noFill/>
          <a:ln w="19050" cap="flat" cmpd="sng">
            <a:solidFill>
              <a:srgbClr val="63637E"/>
            </a:solidFill>
            <a:prstDash val="solid"/>
            <a:tailEnd len="med" w="med" type="triangle"/>
          </a:ln>
        </p:spPr>
      </p:cxnSp>
      <p:cxnSp>
        <p:nvCxnSpPr>
          <p:cNvPr id="211" name="conn211"/>
          <p:cNvCxnSpPr/>
          <p:nvPr/>
        </p:nvCxnSpPr>
        <p:spPr>
          <a:xfrm flipH="0" flipV="0">
            <a:off x="3930000" y="4250000"/>
            <a:ext cx="200000" cy="775000"/>
          </a:xfrm>
          <a:prstGeom prst="straightConnector1">
            <a:avLst/>
          </a:prstGeom>
          <a:noFill/>
          <a:ln w="19050" cap="flat" cmpd="sng">
            <a:solidFill>
              <a:srgbClr val="63637E"/>
            </a:solidFill>
            <a:prstDash val="solid"/>
            <a:tailEnd len="med" w="med" type="triangle"/>
          </a:ln>
        </p:spPr>
      </p:cxnSp>
      <p:cxnSp>
        <p:nvCxnSpPr>
          <p:cNvPr id="212" name="conn212"/>
          <p:cNvCxnSpPr/>
          <p:nvPr/>
        </p:nvCxnSpPr>
        <p:spPr>
          <a:xfrm flipH="0" flipV="0">
            <a:off x="6080000" y="3475000"/>
            <a:ext cx="200000" cy="775000"/>
          </a:xfrm>
          <a:prstGeom prst="straightConnector1">
            <a:avLst/>
          </a:prstGeom>
          <a:noFill/>
          <a:ln w="19050" cap="flat" cmpd="sng">
            <a:solidFill>
              <a:srgbClr val="63637E"/>
            </a:solidFill>
            <a:prstDash val="solid"/>
            <a:tailEnd len="med" w="med" type="triangle"/>
          </a:ln>
        </p:spPr>
      </p:cxnSp>
      <p:cxnSp>
        <p:nvCxnSpPr>
          <p:cNvPr id="213" name="conn213"/>
          <p:cNvCxnSpPr/>
          <p:nvPr/>
        </p:nvCxnSpPr>
        <p:spPr>
          <a:xfrm flipH="0" flipV="1">
            <a:off x="6080000" y="4250000"/>
            <a:ext cx="200000" cy="775000"/>
          </a:xfrm>
          <a:prstGeom prst="straightConnector1">
            <a:avLst/>
          </a:prstGeom>
          <a:noFill/>
          <a:ln w="19050" cap="flat" cmpd="sng">
            <a:solidFill>
              <a:srgbClr val="63637E"/>
            </a:solidFill>
            <a:prstDash val="solid"/>
            <a:tailEnd len="med" w="med" type="triangle"/>
          </a:ln>
        </p:spPr>
      </p:cxnSp>
      <p:cxnSp>
        <p:nvCxnSpPr>
          <p:cNvPr id="214" name="conn214"/>
          <p:cNvCxnSpPr/>
          <p:nvPr/>
        </p:nvCxnSpPr>
        <p:spPr>
          <a:xfrm flipH="0" flipV="0">
            <a:off x="7830000" y="4250000"/>
            <a:ext cx="200000" cy="1"/>
          </a:xfrm>
          <a:prstGeom prst="straightConnector1">
            <a:avLst/>
          </a:prstGeom>
          <a:noFill/>
          <a:ln w="19050" cap="flat" cmpd="sng">
            <a:solidFill>
              <a:srgbClr val="63637E"/>
            </a:solidFill>
            <a:prstDash val="solid"/>
            <a:tailEnd len="med" w="med" type="triangle"/>
          </a:ln>
        </p:spPr>
      </p:cxnSp>
      <p:cxnSp>
        <p:nvCxnSpPr>
          <p:cNvPr id="215" name="conn215"/>
          <p:cNvCxnSpPr/>
          <p:nvPr/>
        </p:nvCxnSpPr>
        <p:spPr>
          <a:xfrm flipH="0" flipV="0">
            <a:off x="9680000" y="4250000"/>
            <a:ext cx="200000" cy="1"/>
          </a:xfrm>
          <a:prstGeom prst="straightConnector1">
            <a:avLst/>
          </a:prstGeom>
          <a:noFill/>
          <a:ln w="19050" cap="flat" cmpd="sng">
            <a:solidFill>
              <a:srgbClr val="63637E"/>
            </a:solidFill>
            <a:prstDash val="solid"/>
            <a:tailEnd len="med" w="med" type="triangle"/>
          </a:ln>
        </p:spPr>
      </p:cxnSp>
      <p:cxnSp>
        <p:nvCxnSpPr>
          <p:cNvPr id="216" name="conn216"/>
          <p:cNvCxnSpPr/>
          <p:nvPr/>
        </p:nvCxnSpPr>
        <p:spPr>
          <a:xfrm flipH="0" flipV="1">
            <a:off x="5105000" y="5600000"/>
            <a:ext cx="1" cy="350000"/>
          </a:xfrm>
          <a:prstGeom prst="straightConnector1">
            <a:avLst/>
          </a:prstGeom>
          <a:noFill/>
          <a:ln w="19050" cap="flat" cmpd="sng">
            <a:solidFill>
              <a:srgbClr val="63637E"/>
            </a:solidFill>
            <a:prstDash val="solid"/>
            <a:tailEnd len="med" w="med" type="triangle"/>
          </a:ln>
        </p:spPr>
      </p:cxnSp>
      <p:sp>
        <p:nvSpPr>
          <p:cNvPr id="217" name="lbl217"/>
          <p:cNvSpPr txBox="1"/>
          <p:nvPr/>
        </p:nvSpPr>
        <p:spPr>
          <a:xfrm>
            <a:off x="2380000" y="4900000"/>
            <a:ext cx="155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80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routes to one or both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b="1" lang="en-US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Demo &amp; Product Walkthrough</a:t>
            </a:r>
            <a:endParaRPr/>
          </a:p>
        </p:txBody>
      </p:sp>
      <p:sp>
        <p:nvSpPr>
          <p:cNvPr id="120" name="Google Shape;120;p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4" name="lbl514"/>
          <p:cNvSpPr txBox="1"/>
          <p:nvPr/>
        </p:nvSpPr>
        <p:spPr>
          <a:xfrm>
            <a:off x="838200" y="1825625"/>
            <a:ext cx="10515600" cy="3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Planned demo flow (5-minute video)</a:t>
            </a:r>
          </a:p>
        </p:txBody>
      </p:sp>
      <p:sp>
        <p:nvSpPr>
          <p:cNvPr id="515" name="box515"/>
          <p:cNvSpPr/>
          <p:nvPr/>
        </p:nvSpPr>
        <p:spPr>
          <a:xfrm>
            <a:off x="838200" y="2450000"/>
            <a:ext cx="2418900" cy="1350000"/>
          </a:xfrm>
          <a:prstGeom prst="roundRect">
            <a:avLst>
              <a:gd fmla="val 6500" name="adj"/>
            </a:avLst>
          </a:prstGeom>
          <a:solidFill>
            <a:srgbClr val="F5F3FB"/>
          </a:solidFill>
          <a:ln w="12700" cap="flat" cmpd="sng">
            <a:solidFill>
              <a:srgbClr val="6D28D9"/>
            </a:solidFill>
            <a:prstDash val="solid"/>
          </a:ln>
        </p:spPr>
        <p:txBody>
          <a:bodyPr anchorCtr="0" anchor="ctr" bIns="45720" lIns="137160" spcFirstLastPara="1" rIns="137160" wrap="square" tIns="45720">
            <a:normAutofit fontScale="100000"/>
          </a:bodyPr>
          <a:lstStyle/>
          <a:p>
            <a:pPr indent="0" lvl="0" marL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6D28D9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</a:p>
          <a:p>
            <a:pPr indent="0" lvl="0" marL="0" rtl="0" algn="ctr">
              <a:lnSpc>
                <a:spcPct val="112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Semantic query</a:t>
            </a:r>
          </a:p>
        </p:txBody>
      </p:sp>
      <p:sp>
        <p:nvSpPr>
          <p:cNvPr id="516" name="box516"/>
          <p:cNvSpPr/>
          <p:nvPr/>
        </p:nvSpPr>
        <p:spPr>
          <a:xfrm>
            <a:off x="3537100" y="2450000"/>
            <a:ext cx="2418900" cy="1350000"/>
          </a:xfrm>
          <a:prstGeom prst="roundRect">
            <a:avLst>
              <a:gd fmla="val 6500" name="adj"/>
            </a:avLst>
          </a:prstGeom>
          <a:solidFill>
            <a:srgbClr val="F5F3FB"/>
          </a:solidFill>
          <a:ln w="12700" cap="flat" cmpd="sng">
            <a:solidFill>
              <a:srgbClr val="6D28D9"/>
            </a:solidFill>
            <a:prstDash val="solid"/>
          </a:ln>
        </p:spPr>
        <p:txBody>
          <a:bodyPr anchorCtr="0" anchor="ctr" bIns="45720" lIns="137160" spcFirstLastPara="1" rIns="137160" wrap="square" tIns="45720">
            <a:normAutofit fontScale="100000"/>
          </a:bodyPr>
          <a:lstStyle/>
          <a:p>
            <a:pPr indent="0" lvl="0" marL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6D28D9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</a:p>
          <a:p>
            <a:pPr indent="0" lvl="0" marL="0" rtl="0" algn="ctr">
              <a:lnSpc>
                <a:spcPct val="112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Structural query</a:t>
            </a:r>
          </a:p>
        </p:txBody>
      </p:sp>
      <p:sp>
        <p:nvSpPr>
          <p:cNvPr id="517" name="box517"/>
          <p:cNvSpPr/>
          <p:nvPr/>
        </p:nvSpPr>
        <p:spPr>
          <a:xfrm>
            <a:off x="6236000" y="2450000"/>
            <a:ext cx="2418900" cy="1350000"/>
          </a:xfrm>
          <a:prstGeom prst="roundRect">
            <a:avLst>
              <a:gd fmla="val 6500" name="adj"/>
            </a:avLst>
          </a:prstGeom>
          <a:solidFill>
            <a:srgbClr val="F5F3FB"/>
          </a:solidFill>
          <a:ln w="12700" cap="flat" cmpd="sng">
            <a:solidFill>
              <a:srgbClr val="6D28D9"/>
            </a:solidFill>
            <a:prstDash val="solid"/>
          </a:ln>
        </p:spPr>
        <p:txBody>
          <a:bodyPr anchorCtr="0" anchor="ctr" bIns="45720" lIns="137160" spcFirstLastPara="1" rIns="137160" wrap="square" tIns="45720">
            <a:normAutofit fontScale="100000"/>
          </a:bodyPr>
          <a:lstStyle/>
          <a:p>
            <a:pPr indent="0" lvl="0" marL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6D28D9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</a:p>
          <a:p>
            <a:pPr indent="0" lvl="0" marL="0" rtl="0" algn="ctr">
              <a:lnSpc>
                <a:spcPct val="112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Version switch</a:t>
            </a:r>
          </a:p>
        </p:txBody>
      </p:sp>
      <p:sp>
        <p:nvSpPr>
          <p:cNvPr id="518" name="box518"/>
          <p:cNvSpPr/>
          <p:nvPr/>
        </p:nvSpPr>
        <p:spPr>
          <a:xfrm>
            <a:off x="8934900" y="2450000"/>
            <a:ext cx="2418900" cy="1350000"/>
          </a:xfrm>
          <a:prstGeom prst="roundRect">
            <a:avLst>
              <a:gd fmla="val 6500" name="adj"/>
            </a:avLst>
          </a:prstGeom>
          <a:solidFill>
            <a:srgbClr val="F5F3FB"/>
          </a:solidFill>
          <a:ln w="12700" cap="flat" cmpd="sng">
            <a:solidFill>
              <a:srgbClr val="6D28D9"/>
            </a:solidFill>
            <a:prstDash val="solid"/>
          </a:ln>
        </p:spPr>
        <p:txBody>
          <a:bodyPr anchorCtr="0" anchor="ctr" bIns="45720" lIns="137160" spcFirstLastPara="1" rIns="137160" wrap="square" tIns="45720">
            <a:normAutofit fontScale="100000"/>
          </a:bodyPr>
          <a:lstStyle/>
          <a:p>
            <a:pPr indent="0" lvl="0" marL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6D28D9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</a:p>
          <a:p>
            <a:pPr indent="0" lvl="0" marL="0" rtl="0" algn="ctr">
              <a:lnSpc>
                <a:spcPct val="112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Multi-hop → agentic refine</a:t>
            </a:r>
          </a:p>
        </p:txBody>
      </p:sp>
      <p:cxnSp>
        <p:nvCxnSpPr>
          <p:cNvPr id="519" name="conn519"/>
          <p:cNvCxnSpPr/>
          <p:nvPr/>
        </p:nvCxnSpPr>
        <p:spPr>
          <a:xfrm flipH="0" flipV="0">
            <a:off x="3257100" y="3125000"/>
            <a:ext cx="280000" cy="1"/>
          </a:xfrm>
          <a:prstGeom prst="straightConnector1">
            <a:avLst/>
          </a:prstGeom>
          <a:noFill/>
          <a:ln w="19050" cap="flat" cmpd="sng">
            <a:solidFill>
              <a:srgbClr val="63637E"/>
            </a:solidFill>
            <a:prstDash val="solid"/>
            <a:tailEnd len="med" w="med" type="triangle"/>
          </a:ln>
        </p:spPr>
      </p:cxnSp>
      <p:cxnSp>
        <p:nvCxnSpPr>
          <p:cNvPr id="520" name="conn520"/>
          <p:cNvCxnSpPr/>
          <p:nvPr/>
        </p:nvCxnSpPr>
        <p:spPr>
          <a:xfrm flipH="0" flipV="0">
            <a:off x="5956000" y="3125000"/>
            <a:ext cx="280000" cy="1"/>
          </a:xfrm>
          <a:prstGeom prst="straightConnector1">
            <a:avLst/>
          </a:prstGeom>
          <a:noFill/>
          <a:ln w="19050" cap="flat" cmpd="sng">
            <a:solidFill>
              <a:srgbClr val="63637E"/>
            </a:solidFill>
            <a:prstDash val="solid"/>
            <a:tailEnd len="med" w="med" type="triangle"/>
          </a:ln>
        </p:spPr>
      </p:cxnSp>
      <p:cxnSp>
        <p:nvCxnSpPr>
          <p:cNvPr id="521" name="conn521"/>
          <p:cNvCxnSpPr/>
          <p:nvPr/>
        </p:nvCxnSpPr>
        <p:spPr>
          <a:xfrm flipH="0" flipV="0">
            <a:off x="8654900" y="3125000"/>
            <a:ext cx="280000" cy="1"/>
          </a:xfrm>
          <a:prstGeom prst="straightConnector1">
            <a:avLst/>
          </a:prstGeom>
          <a:noFill/>
          <a:ln w="19050" cap="flat" cmpd="sng">
            <a:solidFill>
              <a:srgbClr val="63637E"/>
            </a:solidFill>
            <a:prstDash val="solid"/>
            <a:tailEnd len="med" w="med" type="triangle"/>
          </a:ln>
        </p:spPr>
      </p:cxnSp>
      <p:sp>
        <p:nvSpPr>
          <p:cNvPr id="522" name="box522"/>
          <p:cNvSpPr/>
          <p:nvPr/>
        </p:nvSpPr>
        <p:spPr>
          <a:xfrm>
            <a:off x="838200" y="4150000"/>
            <a:ext cx="10515600" cy="950000"/>
          </a:xfrm>
          <a:prstGeom prst="roundRect">
            <a:avLst>
              <a:gd fmla="val 6500" name="adj"/>
            </a:avLst>
          </a:prstGeom>
          <a:solidFill>
            <a:srgbClr val="F5F3FB"/>
          </a:solidFill>
          <a:ln w="12700" cap="flat" cmpd="sng">
            <a:solidFill>
              <a:srgbClr val="704EA6"/>
            </a:solidFill>
            <a:prstDash val="solid"/>
          </a:ln>
        </p:spPr>
        <p:txBody>
          <a:bodyPr anchorCtr="0" anchor="ctr" bIns="45720" lIns="137160" spcFirstLastPara="1" rIns="137160" wrap="square" tIns="45720">
            <a:normAutofit fontScale="100000"/>
          </a:bodyPr>
          <a:lstStyle/>
          <a:p>
            <a:pPr indent="0" lvl="0" marL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14142B"/>
                </a:solidFill>
                <a:latin typeface="Calibri"/>
                <a:ea typeface="Calibri"/>
                <a:cs typeface="Calibri"/>
                <a:sym typeface="Calibri"/>
              </a:rPr>
              <a:t>Before submission</a:t>
            </a:r>
          </a:p>
          <a:p>
            <a:pPr indent="0" lvl="0" marL="0" rtl="0" algn="ctr">
              <a:lnSpc>
                <a:spcPct val="112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0" lang="en-US" sz="105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Record the walkthrough end-to-end, unedited, ≤ 5 minutes.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b="1" lang="en-US" sz="4400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Tools and tech stack used</a:t>
            </a:r>
            <a:endParaRPr b="1">
              <a:solidFill>
                <a:srgbClr val="704EA6"/>
              </a:solidFill>
            </a:endParaRPr>
          </a:p>
        </p:txBody>
      </p:sp>
      <p:sp>
        <p:nvSpPr>
          <p:cNvPr id="126" name="Google Shape;126;p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3" name="box523"/>
          <p:cNvSpPr/>
          <p:nvPr/>
        </p:nvSpPr>
        <p:spPr>
          <a:xfrm>
            <a:off x="838200" y="1900000"/>
            <a:ext cx="5092800" cy="1550000"/>
          </a:xfrm>
          <a:prstGeom prst="roundRect">
            <a:avLst>
              <a:gd fmla="val 6500" name="adj"/>
            </a:avLst>
          </a:prstGeom>
          <a:solidFill>
            <a:srgbClr val="FFFFFF"/>
          </a:solidFill>
          <a:ln w="12700" cap="flat" cmpd="sng">
            <a:solidFill>
              <a:srgbClr val="704EA6"/>
            </a:solidFill>
            <a:prstDash val="solid"/>
          </a:ln>
        </p:spPr>
        <p:txBody>
          <a:bodyPr anchorCtr="0" anchor="ctr" bIns="45720" lIns="137160" spcFirstLastPara="1" rIns="137160" wrap="square" tIns="45720">
            <a:normAutofit fontScale="100000"/>
          </a:bodyPr>
          <a:lstStyle/>
          <a:p>
            <a:pPr indent="0" lvl="0" marL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50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Parsing &amp; structural index</a:t>
            </a:r>
          </a:p>
          <a:p>
            <a:pPr indent="0" lvl="0" marL="0" rtl="0" algn="l">
              <a:lnSpc>
                <a:spcPct val="112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0" lang="en-US" sz="950">
                <a:solidFill>
                  <a:srgbClr val="14142B"/>
                </a:solidFill>
                <a:latin typeface="Calibri"/>
                <a:ea typeface="Calibri"/>
                <a:cs typeface="Calibri"/>
                <a:sym typeface="Calibri"/>
              </a:rPr>
              <a:t>• tree-sitter (JS grammar) AST</a:t>
            </a:r>
          </a:p>
          <a:p>
            <a:pPr indent="0" lvl="0" marL="0" rtl="0" algn="l">
              <a:lnSpc>
                <a:spcPct val="112000"/>
              </a:lnSpc>
              <a:spcBef>
                <a:spcPts val="150"/>
              </a:spcBef>
              <a:spcAft>
                <a:spcPts val="0"/>
              </a:spcAft>
              <a:buNone/>
            </a:pPr>
            <a:r>
              <a:rPr b="0" lang="en-US" sz="950">
                <a:solidFill>
                  <a:srgbClr val="14142B"/>
                </a:solidFill>
                <a:latin typeface="Calibri"/>
                <a:ea typeface="Calibri"/>
                <a:cs typeface="Calibri"/>
                <a:sym typeface="Calibri"/>
              </a:rPr>
              <a:t>• Lightweight call-graph store</a:t>
            </a:r>
          </a:p>
        </p:txBody>
      </p:sp>
      <p:sp>
        <p:nvSpPr>
          <p:cNvPr id="524" name="box524"/>
          <p:cNvSpPr/>
          <p:nvPr/>
        </p:nvSpPr>
        <p:spPr>
          <a:xfrm>
            <a:off x="6261000" y="1900000"/>
            <a:ext cx="5092800" cy="1550000"/>
          </a:xfrm>
          <a:prstGeom prst="roundRect">
            <a:avLst>
              <a:gd fmla="val 6500" name="adj"/>
            </a:avLst>
          </a:prstGeom>
          <a:solidFill>
            <a:srgbClr val="FFFFFF"/>
          </a:solidFill>
          <a:ln w="12700" cap="flat" cmpd="sng">
            <a:solidFill>
              <a:srgbClr val="704EA6"/>
            </a:solidFill>
            <a:prstDash val="solid"/>
          </a:ln>
        </p:spPr>
        <p:txBody>
          <a:bodyPr anchorCtr="0" anchor="ctr" bIns="45720" lIns="137160" spcFirstLastPara="1" rIns="137160" wrap="square" tIns="45720">
            <a:normAutofit fontScale="100000"/>
          </a:bodyPr>
          <a:lstStyle/>
          <a:p>
            <a:pPr indent="0" lvl="0" marL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50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Retrieval</a:t>
            </a:r>
          </a:p>
          <a:p>
            <a:pPr indent="0" lvl="0" marL="0" rtl="0" algn="l">
              <a:lnSpc>
                <a:spcPct val="112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0" lang="en-US" sz="950">
                <a:solidFill>
                  <a:srgbClr val="14142B"/>
                </a:solidFill>
                <a:latin typeface="Calibri"/>
                <a:ea typeface="Calibri"/>
                <a:cs typeface="Calibri"/>
                <a:sym typeface="Calibri"/>
              </a:rPr>
              <a:t>• BM25 sparse matching</a:t>
            </a:r>
          </a:p>
          <a:p>
            <a:pPr indent="0" lvl="0" marL="0" rtl="0" algn="l">
              <a:lnSpc>
                <a:spcPct val="112000"/>
              </a:lnSpc>
              <a:spcBef>
                <a:spcPts val="150"/>
              </a:spcBef>
              <a:spcAft>
                <a:spcPts val="0"/>
              </a:spcAft>
              <a:buNone/>
            </a:pPr>
            <a:r>
              <a:rPr b="0" lang="en-US" sz="950">
                <a:solidFill>
                  <a:srgbClr val="14142B"/>
                </a:solidFill>
                <a:latin typeface="Calibri"/>
                <a:ea typeface="Calibri"/>
                <a:cs typeface="Calibri"/>
                <a:sym typeface="Calibri"/>
              </a:rPr>
              <a:t>• CPU dense embeddings + FAISS/HNSW</a:t>
            </a:r>
          </a:p>
          <a:p>
            <a:pPr indent="0" lvl="0" marL="0" rtl="0" algn="l">
              <a:lnSpc>
                <a:spcPct val="112000"/>
              </a:lnSpc>
              <a:spcBef>
                <a:spcPts val="150"/>
              </a:spcBef>
              <a:spcAft>
                <a:spcPts val="0"/>
              </a:spcAft>
              <a:buNone/>
            </a:pPr>
            <a:r>
              <a:rPr b="0" lang="en-US" sz="950">
                <a:solidFill>
                  <a:srgbClr val="14142B"/>
                </a:solidFill>
                <a:latin typeface="Calibri"/>
                <a:ea typeface="Calibri"/>
                <a:cs typeface="Calibri"/>
                <a:sym typeface="Calibri"/>
              </a:rPr>
              <a:t>• cAST-style AST-aware chunking</a:t>
            </a:r>
          </a:p>
        </p:txBody>
      </p:sp>
      <p:sp>
        <p:nvSpPr>
          <p:cNvPr id="525" name="box525"/>
          <p:cNvSpPr/>
          <p:nvPr/>
        </p:nvSpPr>
        <p:spPr>
          <a:xfrm>
            <a:off x="838200" y="3730000"/>
            <a:ext cx="5092800" cy="1550000"/>
          </a:xfrm>
          <a:prstGeom prst="roundRect">
            <a:avLst>
              <a:gd fmla="val 6500" name="adj"/>
            </a:avLst>
          </a:prstGeom>
          <a:solidFill>
            <a:srgbClr val="FFFFFF"/>
          </a:solidFill>
          <a:ln w="12700" cap="flat" cmpd="sng">
            <a:solidFill>
              <a:srgbClr val="704EA6"/>
            </a:solidFill>
            <a:prstDash val="solid"/>
          </a:ln>
        </p:spPr>
        <p:txBody>
          <a:bodyPr anchorCtr="0" anchor="ctr" bIns="45720" lIns="137160" spcFirstLastPara="1" rIns="137160" wrap="square" tIns="45720">
            <a:normAutofit fontScale="100000"/>
          </a:bodyPr>
          <a:lstStyle/>
          <a:p>
            <a:pPr indent="0" lvl="0" marL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50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Fusion &amp; orchestration</a:t>
            </a:r>
          </a:p>
          <a:p>
            <a:pPr indent="0" lvl="0" marL="0" rtl="0" algn="l">
              <a:lnSpc>
                <a:spcPct val="112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0" lang="en-US" sz="950">
                <a:solidFill>
                  <a:srgbClr val="14142B"/>
                </a:solidFill>
                <a:latin typeface="Calibri"/>
                <a:ea typeface="Calibri"/>
                <a:cs typeface="Calibri"/>
                <a:sym typeface="Calibri"/>
              </a:rPr>
              <a:t>• Reciprocal rank fusion</a:t>
            </a:r>
          </a:p>
          <a:p>
            <a:pPr indent="0" lvl="0" marL="0" rtl="0" algn="l">
              <a:lnSpc>
                <a:spcPct val="112000"/>
              </a:lnSpc>
              <a:spcBef>
                <a:spcPts val="150"/>
              </a:spcBef>
              <a:spcAft>
                <a:spcPts val="0"/>
              </a:spcAft>
              <a:buNone/>
            </a:pPr>
            <a:r>
              <a:rPr b="0" lang="en-US" sz="950">
                <a:solidFill>
                  <a:srgbClr val="14142B"/>
                </a:solidFill>
                <a:latin typeface="Calibri"/>
                <a:ea typeface="Calibri"/>
                <a:cs typeface="Calibri"/>
                <a:sym typeface="Calibri"/>
              </a:rPr>
              <a:t>• Small cross-encoder reranker</a:t>
            </a:r>
          </a:p>
          <a:p>
            <a:pPr indent="0" lvl="0" marL="0" rtl="0" algn="l">
              <a:lnSpc>
                <a:spcPct val="112000"/>
              </a:lnSpc>
              <a:spcBef>
                <a:spcPts val="150"/>
              </a:spcBef>
              <a:spcAft>
                <a:spcPts val="0"/>
              </a:spcAft>
              <a:buNone/>
            </a:pPr>
            <a:r>
              <a:rPr b="0" lang="en-US" sz="950">
                <a:solidFill>
                  <a:srgbClr val="14142B"/>
                </a:solidFill>
                <a:latin typeface="Calibri"/>
                <a:ea typeface="Calibri"/>
                <a:cs typeface="Calibri"/>
                <a:sym typeface="Calibri"/>
              </a:rPr>
              <a:t>• Bounded ReAct agent loop</a:t>
            </a:r>
          </a:p>
        </p:txBody>
      </p:sp>
      <p:sp>
        <p:nvSpPr>
          <p:cNvPr id="526" name="box526"/>
          <p:cNvSpPr/>
          <p:nvPr/>
        </p:nvSpPr>
        <p:spPr>
          <a:xfrm>
            <a:off x="6261000" y="3730000"/>
            <a:ext cx="5092800" cy="1550000"/>
          </a:xfrm>
          <a:prstGeom prst="roundRect">
            <a:avLst>
              <a:gd fmla="val 6500" name="adj"/>
            </a:avLst>
          </a:prstGeom>
          <a:solidFill>
            <a:srgbClr val="FFFFFF"/>
          </a:solidFill>
          <a:ln w="12700" cap="flat" cmpd="sng">
            <a:solidFill>
              <a:srgbClr val="704EA6"/>
            </a:solidFill>
            <a:prstDash val="solid"/>
          </a:ln>
        </p:spPr>
        <p:txBody>
          <a:bodyPr anchorCtr="0" anchor="ctr" bIns="45720" lIns="137160" spcFirstLastPara="1" rIns="137160" wrap="square" tIns="45720">
            <a:normAutofit fontScale="100000"/>
          </a:bodyPr>
          <a:lstStyle/>
          <a:p>
            <a:pPr indent="0" lvl="0" marL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50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Versioning &amp; evaluation</a:t>
            </a:r>
          </a:p>
          <a:p>
            <a:pPr indent="0" lvl="0" marL="0" rtl="0" algn="l">
              <a:lnSpc>
                <a:spcPct val="112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0" lang="en-US" sz="950">
                <a:solidFill>
                  <a:srgbClr val="14142B"/>
                </a:solidFill>
                <a:latin typeface="Calibri"/>
                <a:ea typeface="Calibri"/>
                <a:cs typeface="Calibri"/>
                <a:sym typeface="Calibri"/>
              </a:rPr>
              <a:t>• Git-diff incremental re-index</a:t>
            </a:r>
          </a:p>
          <a:p>
            <a:pPr indent="0" lvl="0" marL="0" rtl="0" algn="l">
              <a:lnSpc>
                <a:spcPct val="112000"/>
              </a:lnSpc>
              <a:spcBef>
                <a:spcPts val="150"/>
              </a:spcBef>
              <a:spcAft>
                <a:spcPts val="0"/>
              </a:spcAft>
              <a:buNone/>
            </a:pPr>
            <a:r>
              <a:rPr b="0" lang="en-US" sz="950">
                <a:solidFill>
                  <a:srgbClr val="14142B"/>
                </a:solidFill>
                <a:latin typeface="Calibri"/>
                <a:ea typeface="Calibri"/>
                <a:cs typeface="Calibri"/>
                <a:sym typeface="Calibri"/>
              </a:rPr>
              <a:t>• MTEB / coir-eval (NDCG@10, MRR)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b="1" lang="en-US" sz="4400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Impact &amp; Use case</a:t>
            </a:r>
            <a:endParaRPr b="1">
              <a:solidFill>
                <a:srgbClr val="704EA6"/>
              </a:solidFill>
            </a:endParaRPr>
          </a:p>
        </p:txBody>
      </p:sp>
      <p:sp>
        <p:nvSpPr>
          <p:cNvPr id="132" name="Google Shape;132;p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7" name="lbl527"/>
          <p:cNvSpPr txBox="1"/>
          <p:nvPr/>
        </p:nvSpPr>
        <p:spPr>
          <a:xfrm>
            <a:off x="838200" y="1825625"/>
            <a:ext cx="10515600" cy="3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Who this helps</a:t>
            </a:r>
          </a:p>
        </p:txBody>
      </p:sp>
      <p:sp>
        <p:nvSpPr>
          <p:cNvPr id="528" name="box528"/>
          <p:cNvSpPr/>
          <p:nvPr/>
        </p:nvSpPr>
        <p:spPr>
          <a:xfrm>
            <a:off x="838200" y="2320000"/>
            <a:ext cx="3351866" cy="1550000"/>
          </a:xfrm>
          <a:prstGeom prst="roundRect">
            <a:avLst>
              <a:gd fmla="val 6500" name="adj"/>
            </a:avLst>
          </a:prstGeom>
          <a:solidFill>
            <a:srgbClr val="FFFFFF"/>
          </a:solidFill>
          <a:ln w="12700" cap="flat" cmpd="sng">
            <a:solidFill>
              <a:srgbClr val="704EA6"/>
            </a:solidFill>
            <a:prstDash val="solid"/>
          </a:ln>
        </p:spPr>
        <p:txBody>
          <a:bodyPr anchorCtr="0" anchor="ctr" bIns="45720" lIns="137160" spcFirstLastPara="1" rIns="137160" wrap="square" tIns="45720">
            <a:normAutofit fontScale="100000"/>
          </a:bodyPr>
          <a:lstStyle/>
          <a:p>
            <a:pPr indent="0" lvl="0" marL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50">
                <a:solidFill>
                  <a:srgbClr val="14142B"/>
                </a:solidFill>
                <a:latin typeface="Calibri"/>
                <a:ea typeface="Calibri"/>
                <a:cs typeface="Calibri"/>
                <a:sym typeface="Calibri"/>
              </a:rPr>
              <a:t>Engineers</a:t>
            </a:r>
          </a:p>
          <a:p>
            <a:pPr indent="0" lvl="0" marL="0" rtl="0" algn="ctr">
              <a:lnSpc>
                <a:spcPct val="112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Triaging bugs in codebases too large to search by hand</a:t>
            </a:r>
          </a:p>
        </p:txBody>
      </p:sp>
      <p:sp>
        <p:nvSpPr>
          <p:cNvPr id="529" name="box529"/>
          <p:cNvSpPr/>
          <p:nvPr/>
        </p:nvSpPr>
        <p:spPr>
          <a:xfrm>
            <a:off x="4420066" y="2320000"/>
            <a:ext cx="3351866" cy="1550000"/>
          </a:xfrm>
          <a:prstGeom prst="roundRect">
            <a:avLst>
              <a:gd fmla="val 6500" name="adj"/>
            </a:avLst>
          </a:prstGeom>
          <a:solidFill>
            <a:srgbClr val="FFFFFF"/>
          </a:solidFill>
          <a:ln w="12700" cap="flat" cmpd="sng">
            <a:solidFill>
              <a:srgbClr val="704EA6"/>
            </a:solidFill>
            <a:prstDash val="solid"/>
          </a:ln>
        </p:spPr>
        <p:txBody>
          <a:bodyPr anchorCtr="0" anchor="ctr" bIns="45720" lIns="137160" spcFirstLastPara="1" rIns="137160" wrap="square" tIns="45720">
            <a:normAutofit fontScale="100000"/>
          </a:bodyPr>
          <a:lstStyle/>
          <a:p>
            <a:pPr indent="0" lvl="0" marL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50">
                <a:solidFill>
                  <a:srgbClr val="14142B"/>
                </a:solidFill>
                <a:latin typeface="Calibri"/>
                <a:ea typeface="Calibri"/>
                <a:cs typeface="Calibri"/>
                <a:sym typeface="Calibri"/>
              </a:rPr>
              <a:t>LLM coding agents</a:t>
            </a:r>
          </a:p>
          <a:p>
            <a:pPr indent="0" lvl="0" marL="0" rtl="0" algn="ctr">
              <a:lnSpc>
                <a:spcPct val="112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Grounded file/line citations, not hallucinated ones</a:t>
            </a:r>
          </a:p>
        </p:txBody>
      </p:sp>
      <p:sp>
        <p:nvSpPr>
          <p:cNvPr id="530" name="box530"/>
          <p:cNvSpPr/>
          <p:nvPr/>
        </p:nvSpPr>
        <p:spPr>
          <a:xfrm>
            <a:off x="8001932" y="2320000"/>
            <a:ext cx="3351866" cy="1550000"/>
          </a:xfrm>
          <a:prstGeom prst="roundRect">
            <a:avLst>
              <a:gd fmla="val 6500" name="adj"/>
            </a:avLst>
          </a:prstGeom>
          <a:solidFill>
            <a:srgbClr val="FFFFFF"/>
          </a:solidFill>
          <a:ln w="12700" cap="flat" cmpd="sng">
            <a:solidFill>
              <a:srgbClr val="704EA6"/>
            </a:solidFill>
            <a:prstDash val="solid"/>
          </a:ln>
        </p:spPr>
        <p:txBody>
          <a:bodyPr anchorCtr="0" anchor="ctr" bIns="45720" lIns="137160" spcFirstLastPara="1" rIns="137160" wrap="square" tIns="45720">
            <a:normAutofit fontScale="100000"/>
          </a:bodyPr>
          <a:lstStyle/>
          <a:p>
            <a:pPr indent="0" lvl="0" marL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50">
                <a:solidFill>
                  <a:srgbClr val="14142B"/>
                </a:solidFill>
                <a:latin typeface="Calibri"/>
                <a:ea typeface="Calibri"/>
                <a:cs typeface="Calibri"/>
                <a:sym typeface="Calibri"/>
              </a:rPr>
              <a:t>New teammates</a:t>
            </a:r>
          </a:p>
          <a:p>
            <a:pPr indent="0" lvl="0" marL="0" rtl="0" algn="ctr">
              <a:lnSpc>
                <a:spcPct val="112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Onboarding onto an unfamiliar, dozens-of-tools codebase</a:t>
            </a:r>
          </a:p>
        </p:txBody>
      </p:sp>
      <p:sp>
        <p:nvSpPr>
          <p:cNvPr id="531" name="box531"/>
          <p:cNvSpPr/>
          <p:nvPr/>
        </p:nvSpPr>
        <p:spPr>
          <a:xfrm>
            <a:off x="838200" y="4150000"/>
            <a:ext cx="10515600" cy="950000"/>
          </a:xfrm>
          <a:prstGeom prst="roundRect">
            <a:avLst>
              <a:gd fmla="val 6500" name="adj"/>
            </a:avLst>
          </a:prstGeom>
          <a:solidFill>
            <a:srgbClr val="F5F3FB"/>
          </a:solidFill>
          <a:ln w="25400" cap="flat" cmpd="sng">
            <a:solidFill>
              <a:srgbClr val="6D28D9"/>
            </a:solidFill>
            <a:prstDash val="solid"/>
          </a:ln>
        </p:spPr>
        <p:txBody>
          <a:bodyPr anchorCtr="0" anchor="ctr" bIns="45720" lIns="137160" spcFirstLastPara="1" rIns="137160" wrap="square" tIns="45720">
            <a:normAutofit fontScale="100000"/>
          </a:bodyPr>
          <a:lstStyle/>
          <a:p>
            <a:pPr indent="0" lvl="0" marL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14142B"/>
                </a:solidFill>
                <a:latin typeface="Calibri"/>
                <a:ea typeface="Calibri"/>
                <a:cs typeface="Calibri"/>
                <a:sym typeface="Calibri"/>
              </a:rPr>
              <a:t>Where it fits</a:t>
            </a:r>
          </a:p>
          <a:p>
            <a:pPr indent="0" lvl="0" marL="0" rtl="0" algn="ctr">
              <a:lnSpc>
                <a:spcPct val="112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Drops directly into this theme's workflow — the same pattern generalizes to any large internal codebase.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b="1" lang="en-US" sz="4400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Innovation highlights and known limitations</a:t>
            </a:r>
            <a:endParaRPr b="1" sz="4400">
              <a:solidFill>
                <a:srgbClr val="704EA6"/>
              </a:solidFill>
            </a:endParaRPr>
          </a:p>
        </p:txBody>
      </p:sp>
      <p:sp>
        <p:nvSpPr>
          <p:cNvPr id="138" name="Google Shape;138;p8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2" name="panel532"/>
          <p:cNvSpPr/>
          <p:nvPr/>
        </p:nvSpPr>
        <p:spPr>
          <a:xfrm>
            <a:off x="838200" y="1900000"/>
            <a:ext cx="5092800" cy="2050000"/>
          </a:xfrm>
          <a:prstGeom prst="roundRect">
            <a:avLst>
              <a:gd fmla="val 4500" name="adj"/>
            </a:avLst>
          </a:prstGeom>
          <a:solidFill>
            <a:srgbClr val="F5F3FB"/>
          </a:solidFill>
          <a:ln w="19050" cap="flat" cmpd="sng">
            <a:solidFill>
              <a:srgbClr val="6D28D9"/>
            </a:solidFill>
            <a:prstDash val="solid"/>
          </a:ln>
        </p:spPr>
        <p:txBody>
          <a:bodyPr anchorCtr="0" anchor="t" bIns="137160" lIns="182880" spcFirstLastPara="1" rIns="182880" wrap="square" tIns="137160">
            <a:normAutofit fontScale="100000"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6D28D9"/>
                </a:solidFill>
                <a:latin typeface="Calibri"/>
                <a:ea typeface="Calibri"/>
                <a:cs typeface="Calibri"/>
                <a:sym typeface="Calibri"/>
              </a:rPr>
              <a:t>Highlights</a:t>
            </a:r>
          </a:p>
          <a:p>
            <a:pPr indent="-260000" lvl="0" marL="260000" marR="0" rtl="0" algn="l">
              <a:lnSpc>
                <a:spcPct val="118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6D28D9"/>
                </a:solidFill>
                <a:latin typeface="Calibri"/>
                <a:ea typeface="Calibri"/>
                <a:cs typeface="Calibri"/>
                <a:sym typeface="Calibri"/>
              </a:rPr>
              <a:t>✓  </a:t>
            </a:r>
            <a:r>
              <a:rPr b="0" lang="en-US" sz="1050">
                <a:solidFill>
                  <a:srgbClr val="14142B"/>
                </a:solidFill>
                <a:latin typeface="Calibri"/>
                <a:ea typeface="Calibri"/>
                <a:cs typeface="Calibri"/>
                <a:sym typeface="Calibri"/>
              </a:rPr>
              <a:t>Query-type classification before retrieval</a:t>
            </a:r>
          </a:p>
          <a:p>
            <a:pPr indent="-260000" lvl="0" marL="260000" marR="0" rtl="0" algn="l">
              <a:lnSpc>
                <a:spcPct val="118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6D28D9"/>
                </a:solidFill>
                <a:latin typeface="Calibri"/>
                <a:ea typeface="Calibri"/>
                <a:cs typeface="Calibri"/>
                <a:sym typeface="Calibri"/>
              </a:rPr>
              <a:t>✓  </a:t>
            </a:r>
            <a:r>
              <a:rPr b="0" lang="en-US" sz="1050">
                <a:solidFill>
                  <a:srgbClr val="14142B"/>
                </a:solidFill>
                <a:latin typeface="Calibri"/>
                <a:ea typeface="Calibri"/>
                <a:cs typeface="Calibri"/>
                <a:sym typeface="Calibri"/>
              </a:rPr>
              <a:t>Versioned indexing designed in from day one</a:t>
            </a:r>
          </a:p>
          <a:p>
            <a:pPr indent="-260000" lvl="0" marL="260000" marR="0" rtl="0" algn="l">
              <a:lnSpc>
                <a:spcPct val="118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6D28D9"/>
                </a:solidFill>
                <a:latin typeface="Calibri"/>
                <a:ea typeface="Calibri"/>
                <a:cs typeface="Calibri"/>
                <a:sym typeface="Calibri"/>
              </a:rPr>
              <a:t>✓  </a:t>
            </a:r>
            <a:r>
              <a:rPr b="0" lang="en-US" sz="1050">
                <a:solidFill>
                  <a:srgbClr val="14142B"/>
                </a:solidFill>
                <a:latin typeface="Calibri"/>
                <a:ea typeface="Calibri"/>
                <a:cs typeface="Calibri"/>
                <a:sym typeface="Calibri"/>
              </a:rPr>
              <a:t>Every choice traces to a 2023–2026 paper</a:t>
            </a:r>
          </a:p>
        </p:txBody>
      </p:sp>
      <p:sp>
        <p:nvSpPr>
          <p:cNvPr id="533" name="panel533"/>
          <p:cNvSpPr/>
          <p:nvPr/>
        </p:nvSpPr>
        <p:spPr>
          <a:xfrm>
            <a:off x="6261000" y="1900000"/>
            <a:ext cx="5092800" cy="2050000"/>
          </a:xfrm>
          <a:prstGeom prst="roundRect">
            <a:avLst>
              <a:gd fmla="val 4500" name="adj"/>
            </a:avLst>
          </a:prstGeom>
          <a:solidFill>
            <a:srgbClr val="FFFFFF"/>
          </a:solidFill>
          <a:ln w="19050" cap="flat" cmpd="sng">
            <a:solidFill>
              <a:srgbClr val="63637E"/>
            </a:solidFill>
            <a:prstDash val="solid"/>
          </a:ln>
        </p:spPr>
        <p:txBody>
          <a:bodyPr anchorCtr="0" anchor="t" bIns="137160" lIns="182880" spcFirstLastPara="1" rIns="182880" wrap="square" tIns="137160">
            <a:normAutofit fontScale="100000"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Known limitations</a:t>
            </a:r>
          </a:p>
          <a:p>
            <a:pPr indent="-260000" lvl="0" marL="260000" marR="0" rtl="0" algn="l">
              <a:lnSpc>
                <a:spcPct val="118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–  </a:t>
            </a:r>
            <a:r>
              <a:rPr b="0" lang="en-US" sz="1050">
                <a:solidFill>
                  <a:srgbClr val="14142B"/>
                </a:solidFill>
                <a:latin typeface="Calibri"/>
                <a:ea typeface="Calibri"/>
                <a:cs typeface="Calibri"/>
                <a:sym typeface="Calibri"/>
              </a:rPr>
              <a:t>Near-duplicate code still hard for dense retrieval</a:t>
            </a:r>
          </a:p>
          <a:p>
            <a:pPr indent="-260000" lvl="0" marL="260000" marR="0" rtl="0" algn="l">
              <a:lnSpc>
                <a:spcPct val="118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–  </a:t>
            </a:r>
            <a:r>
              <a:rPr b="0" lang="en-US" sz="1050">
                <a:solidFill>
                  <a:srgbClr val="14142B"/>
                </a:solidFill>
                <a:latin typeface="Calibri"/>
                <a:ea typeface="Calibri"/>
                <a:cs typeface="Calibri"/>
                <a:sym typeface="Calibri"/>
              </a:rPr>
              <a:t>No published benchmark for evolutionary ranking yet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b="1" lang="en-US" sz="4400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What’s next</a:t>
            </a:r>
            <a:endParaRPr b="1" sz="4400">
              <a:solidFill>
                <a:srgbClr val="704EA6"/>
              </a:solidFill>
            </a:endParaRPr>
          </a:p>
        </p:txBody>
      </p:sp>
      <p:sp>
        <p:nvSpPr>
          <p:cNvPr id="144" name="Google Shape;144;p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4" name="lbl534"/>
          <p:cNvSpPr txBox="1"/>
          <p:nvPr/>
        </p:nvSpPr>
        <p:spPr>
          <a:xfrm>
            <a:off x="838200" y="1825625"/>
            <a:ext cx="10515600" cy="3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Roadmap</a:t>
            </a:r>
          </a:p>
        </p:txBody>
      </p:sp>
      <p:sp>
        <p:nvSpPr>
          <p:cNvPr id="535" name="box535"/>
          <p:cNvSpPr/>
          <p:nvPr/>
        </p:nvSpPr>
        <p:spPr>
          <a:xfrm>
            <a:off x="838200" y="2400000"/>
            <a:ext cx="2418900" cy="1500000"/>
          </a:xfrm>
          <a:prstGeom prst="roundRect">
            <a:avLst>
              <a:gd fmla="val 6500" name="adj"/>
            </a:avLst>
          </a:prstGeom>
          <a:solidFill>
            <a:srgbClr val="F5F3FB"/>
          </a:solidFill>
          <a:ln w="12700" cap="flat" cmpd="sng">
            <a:solidFill>
              <a:srgbClr val="6D28D9"/>
            </a:solidFill>
            <a:prstDash val="solid"/>
          </a:ln>
        </p:spPr>
        <p:txBody>
          <a:bodyPr anchorCtr="0" anchor="ctr" bIns="45720" lIns="137160" spcFirstLastPara="1" rIns="137160" wrap="square" tIns="45720">
            <a:normAutofit fontScale="100000"/>
          </a:bodyPr>
          <a:lstStyle/>
          <a:p>
            <a:pPr indent="0" lvl="0" marL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6D28D9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</a:p>
          <a:p>
            <a:pPr indent="0" lvl="0" marL="0" rtl="0" algn="ctr">
              <a:lnSpc>
                <a:spcPct val="112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0" lang="en-US" sz="95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Distill/quantize embeddings for CPU</a:t>
            </a:r>
          </a:p>
        </p:txBody>
      </p:sp>
      <p:sp>
        <p:nvSpPr>
          <p:cNvPr id="536" name="box536"/>
          <p:cNvSpPr/>
          <p:nvPr/>
        </p:nvSpPr>
        <p:spPr>
          <a:xfrm>
            <a:off x="3537100" y="2400000"/>
            <a:ext cx="2418900" cy="1500000"/>
          </a:xfrm>
          <a:prstGeom prst="roundRect">
            <a:avLst>
              <a:gd fmla="val 6500" name="adj"/>
            </a:avLst>
          </a:prstGeom>
          <a:solidFill>
            <a:srgbClr val="F5F3FB"/>
          </a:solidFill>
          <a:ln w="12700" cap="flat" cmpd="sng">
            <a:solidFill>
              <a:srgbClr val="6D28D9"/>
            </a:solidFill>
            <a:prstDash val="solid"/>
          </a:ln>
        </p:spPr>
        <p:txBody>
          <a:bodyPr anchorCtr="0" anchor="ctr" bIns="45720" lIns="137160" spcFirstLastPara="1" rIns="137160" wrap="square" tIns="45720">
            <a:normAutofit fontScale="100000"/>
          </a:bodyPr>
          <a:lstStyle/>
          <a:p>
            <a:pPr indent="0" lvl="0" marL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6D28D9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</a:p>
          <a:p>
            <a:pPr indent="0" lvl="0" marL="0" rtl="0" algn="ctr">
              <a:lnSpc>
                <a:spcPct val="112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0" lang="en-US" sz="95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Extend graph: imports, data-flow</a:t>
            </a:r>
          </a:p>
        </p:txBody>
      </p:sp>
      <p:sp>
        <p:nvSpPr>
          <p:cNvPr id="537" name="box537"/>
          <p:cNvSpPr/>
          <p:nvPr/>
        </p:nvSpPr>
        <p:spPr>
          <a:xfrm>
            <a:off x="6236000" y="2400000"/>
            <a:ext cx="2418900" cy="1500000"/>
          </a:xfrm>
          <a:prstGeom prst="roundRect">
            <a:avLst>
              <a:gd fmla="val 6500" name="adj"/>
            </a:avLst>
          </a:prstGeom>
          <a:solidFill>
            <a:srgbClr val="F5F3FB"/>
          </a:solidFill>
          <a:ln w="12700" cap="flat" cmpd="sng">
            <a:solidFill>
              <a:srgbClr val="6D28D9"/>
            </a:solidFill>
            <a:prstDash val="solid"/>
          </a:ln>
        </p:spPr>
        <p:txBody>
          <a:bodyPr anchorCtr="0" anchor="ctr" bIns="45720" lIns="137160" spcFirstLastPara="1" rIns="137160" wrap="square" tIns="45720">
            <a:normAutofit fontScale="100000"/>
          </a:bodyPr>
          <a:lstStyle/>
          <a:p>
            <a:pPr indent="0" lvl="0" marL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6D28D9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</a:p>
          <a:p>
            <a:pPr indent="0" lvl="0" marL="0" rtl="0" algn="ctr">
              <a:lnSpc>
                <a:spcPct val="112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0" lang="en-US" sz="95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Build evolutionary-retrieval eval set</a:t>
            </a:r>
          </a:p>
        </p:txBody>
      </p:sp>
      <p:sp>
        <p:nvSpPr>
          <p:cNvPr id="538" name="box538"/>
          <p:cNvSpPr/>
          <p:nvPr/>
        </p:nvSpPr>
        <p:spPr>
          <a:xfrm>
            <a:off x="8934900" y="2400000"/>
            <a:ext cx="2418900" cy="1500000"/>
          </a:xfrm>
          <a:prstGeom prst="roundRect">
            <a:avLst>
              <a:gd fmla="val 6500" name="adj"/>
            </a:avLst>
          </a:prstGeom>
          <a:solidFill>
            <a:srgbClr val="F5F3FB"/>
          </a:solidFill>
          <a:ln w="12700" cap="flat" cmpd="sng">
            <a:solidFill>
              <a:srgbClr val="6D28D9"/>
            </a:solidFill>
            <a:prstDash val="solid"/>
          </a:ln>
        </p:spPr>
        <p:txBody>
          <a:bodyPr anchorCtr="0" anchor="ctr" bIns="45720" lIns="137160" spcFirstLastPara="1" rIns="137160" wrap="square" tIns="45720">
            <a:normAutofit fontScale="100000"/>
          </a:bodyPr>
          <a:lstStyle/>
          <a:p>
            <a:pPr indent="0" lvl="0" marL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6D28D9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</a:p>
          <a:p>
            <a:pPr indent="0" lvl="0" marL="0" rtl="0" algn="ctr">
              <a:lnSpc>
                <a:spcPct val="112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0" lang="en-US" sz="95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Evidence-verified agentic stopping</a:t>
            </a:r>
          </a:p>
        </p:txBody>
      </p:sp>
      <p:cxnSp>
        <p:nvCxnSpPr>
          <p:cNvPr id="539" name="conn539"/>
          <p:cNvCxnSpPr/>
          <p:nvPr/>
        </p:nvCxnSpPr>
        <p:spPr>
          <a:xfrm flipH="0" flipV="0">
            <a:off x="3257100" y="3150000"/>
            <a:ext cx="280000" cy="1"/>
          </a:xfrm>
          <a:prstGeom prst="straightConnector1">
            <a:avLst/>
          </a:prstGeom>
          <a:noFill/>
          <a:ln w="19050" cap="flat" cmpd="sng">
            <a:solidFill>
              <a:srgbClr val="63637E"/>
            </a:solidFill>
            <a:prstDash val="solid"/>
            <a:tailEnd len="med" w="med" type="triangle"/>
          </a:ln>
        </p:spPr>
      </p:cxnSp>
      <p:cxnSp>
        <p:nvCxnSpPr>
          <p:cNvPr id="540" name="conn540"/>
          <p:cNvCxnSpPr/>
          <p:nvPr/>
        </p:nvCxnSpPr>
        <p:spPr>
          <a:xfrm flipH="0" flipV="0">
            <a:off x="5956000" y="3150000"/>
            <a:ext cx="280000" cy="1"/>
          </a:xfrm>
          <a:prstGeom prst="straightConnector1">
            <a:avLst/>
          </a:prstGeom>
          <a:noFill/>
          <a:ln w="19050" cap="flat" cmpd="sng">
            <a:solidFill>
              <a:srgbClr val="63637E"/>
            </a:solidFill>
            <a:prstDash val="solid"/>
            <a:tailEnd len="med" w="med" type="triangle"/>
          </a:ln>
        </p:spPr>
      </p:cxnSp>
      <p:cxnSp>
        <p:nvCxnSpPr>
          <p:cNvPr id="541" name="conn541"/>
          <p:cNvCxnSpPr/>
          <p:nvPr/>
        </p:nvCxnSpPr>
        <p:spPr>
          <a:xfrm flipH="0" flipV="0">
            <a:off x="8654900" y="3150000"/>
            <a:ext cx="280000" cy="1"/>
          </a:xfrm>
          <a:prstGeom prst="straightConnector1">
            <a:avLst/>
          </a:prstGeom>
          <a:noFill/>
          <a:ln w="19050" cap="flat" cmpd="sng">
            <a:solidFill>
              <a:srgbClr val="63637E"/>
            </a:solidFill>
            <a:prstDash val="solid"/>
            <a:tailEnd len="med" w="med" type="triangle"/>
          </a:ln>
        </p:spPr>
      </p:cxnSp>
      <p:sp>
        <p:nvSpPr>
          <p:cNvPr id="542" name="box542"/>
          <p:cNvSpPr/>
          <p:nvPr/>
        </p:nvSpPr>
        <p:spPr>
          <a:xfrm>
            <a:off x="838200" y="4300000"/>
            <a:ext cx="10515600" cy="850000"/>
          </a:xfrm>
          <a:prstGeom prst="roundRect">
            <a:avLst>
              <a:gd fmla="val 6500" name="adj"/>
            </a:avLst>
          </a:prstGeom>
          <a:solidFill>
            <a:srgbClr val="F5F3FB"/>
          </a:solidFill>
          <a:ln w="12700" cap="flat" cmpd="sng">
            <a:solidFill>
              <a:srgbClr val="704EA6"/>
            </a:solidFill>
            <a:prstDash val="solid"/>
          </a:ln>
        </p:spPr>
        <p:txBody>
          <a:bodyPr anchorCtr="0" anchor="ctr" bIns="45720" lIns="137160" spcFirstLastPara="1" rIns="137160" wrap="square" tIns="45720">
            <a:normAutofit fontScale="100000"/>
          </a:bodyPr>
          <a:lstStyle/>
          <a:p>
            <a:pPr indent="0" lvl="0" marL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14142B"/>
                </a:solidFill>
                <a:latin typeface="Calibri"/>
                <a:ea typeface="Calibri"/>
                <a:cs typeface="Calibri"/>
                <a:sym typeface="Calibri"/>
              </a:rPr>
              <a:t>If shortlisted</a:t>
            </a:r>
          </a:p>
          <a:p>
            <a:pPr indent="0" lvl="0" marL="0" rtl="0" algn="ctr">
              <a:lnSpc>
                <a:spcPct val="112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0" lang="en-US" sz="105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Take this further as a PRISM worklet with Samsung mentorship.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b="1" lang="en-US" sz="4400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Brownie points slide( differentiation)</a:t>
            </a:r>
            <a:endParaRPr b="1" sz="4400">
              <a:solidFill>
                <a:srgbClr val="704EA6"/>
              </a:solidFill>
            </a:endParaRPr>
          </a:p>
        </p:txBody>
      </p:sp>
      <p:sp>
        <p:nvSpPr>
          <p:cNvPr id="150" name="Google Shape;150;p10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3" name="lbl543"/>
          <p:cNvSpPr txBox="1"/>
          <p:nvPr/>
        </p:nvSpPr>
        <p:spPr>
          <a:xfrm>
            <a:off x="838200" y="1825625"/>
            <a:ext cx="10515600" cy="3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Why this stands apart</a:t>
            </a:r>
          </a:p>
        </p:txBody>
      </p:sp>
      <p:sp>
        <p:nvSpPr>
          <p:cNvPr id="544" name="box544"/>
          <p:cNvSpPr/>
          <p:nvPr/>
        </p:nvSpPr>
        <p:spPr>
          <a:xfrm>
            <a:off x="838200" y="2350000"/>
            <a:ext cx="5117800" cy="1350000"/>
          </a:xfrm>
          <a:prstGeom prst="roundRect">
            <a:avLst>
              <a:gd fmla="val 6500" name="adj"/>
            </a:avLst>
          </a:prstGeom>
          <a:solidFill>
            <a:srgbClr val="FFFFFF"/>
          </a:solidFill>
          <a:ln w="25400" cap="flat" cmpd="sng">
            <a:solidFill>
              <a:srgbClr val="6D28D9"/>
            </a:solidFill>
            <a:prstDash val="solid"/>
          </a:ln>
        </p:spPr>
        <p:txBody>
          <a:bodyPr anchorCtr="0" anchor="ctr" bIns="45720" lIns="137160" spcFirstLastPara="1" rIns="137160" wrap="square" tIns="45720">
            <a:normAutofit fontScale="100000"/>
          </a:bodyPr>
          <a:lstStyle/>
          <a:p>
            <a:pPr indent="0" lvl="0" marL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Thinnest-evidenced gap</a:t>
            </a:r>
          </a:p>
          <a:p>
            <a:pPr indent="0" lvl="0" marL="0" rtl="0" algn="l">
              <a:lnSpc>
                <a:spcPct val="112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CPU-only code retrieval — not GPU-scale embedders</a:t>
            </a:r>
          </a:p>
        </p:txBody>
      </p:sp>
      <p:sp>
        <p:nvSpPr>
          <p:cNvPr id="545" name="box545"/>
          <p:cNvSpPr/>
          <p:nvPr/>
        </p:nvSpPr>
        <p:spPr>
          <a:xfrm>
            <a:off x="6236000" y="2350000"/>
            <a:ext cx="5117800" cy="1350000"/>
          </a:xfrm>
          <a:prstGeom prst="roundRect">
            <a:avLst>
              <a:gd fmla="val 6500" name="adj"/>
            </a:avLst>
          </a:prstGeom>
          <a:solidFill>
            <a:srgbClr val="FFFFFF"/>
          </a:solidFill>
          <a:ln w="25400" cap="flat" cmpd="sng">
            <a:solidFill>
              <a:srgbClr val="6D28D9"/>
            </a:solidFill>
            <a:prstDash val="solid"/>
          </a:ln>
        </p:spPr>
        <p:txBody>
          <a:bodyPr anchorCtr="0" anchor="ctr" bIns="45720" lIns="137160" spcFirstLastPara="1" rIns="137160" wrap="square" tIns="45720">
            <a:normAutofit fontScale="100000"/>
          </a:bodyPr>
          <a:lstStyle/>
          <a:p>
            <a:pPr indent="0" lvl="0" marL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Classify before retrieving</a:t>
            </a:r>
          </a:p>
          <a:p>
            <a:pPr indent="0" lvl="0" marL="0" rtl="0" algn="l">
              <a:lnSpc>
                <a:spcPct val="112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Query type decides the pipeline, not one-size-fits-all</a:t>
            </a:r>
          </a:p>
        </p:txBody>
      </p:sp>
      <p:sp>
        <p:nvSpPr>
          <p:cNvPr id="546" name="box546"/>
          <p:cNvSpPr/>
          <p:nvPr/>
        </p:nvSpPr>
        <p:spPr>
          <a:xfrm>
            <a:off x="838200" y="3980000"/>
            <a:ext cx="5117800" cy="1350000"/>
          </a:xfrm>
          <a:prstGeom prst="roundRect">
            <a:avLst>
              <a:gd fmla="val 6500" name="adj"/>
            </a:avLst>
          </a:prstGeom>
          <a:solidFill>
            <a:srgbClr val="FFFFFF"/>
          </a:solidFill>
          <a:ln w="25400" cap="flat" cmpd="sng">
            <a:solidFill>
              <a:srgbClr val="6D28D9"/>
            </a:solidFill>
            <a:prstDash val="solid"/>
          </a:ln>
        </p:spPr>
        <p:txBody>
          <a:bodyPr anchorCtr="0" anchor="ctr" bIns="45720" lIns="137160" spcFirstLastPara="1" rIns="137160" wrap="square" tIns="45720">
            <a:normAutofit fontScale="100000"/>
          </a:bodyPr>
          <a:lstStyle/>
          <a:p>
            <a:pPr indent="0" lvl="0" marL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Built for a living codebase</a:t>
            </a:r>
          </a:p>
          <a:p>
            <a:pPr indent="0" lvl="0" marL="0" rtl="0" algn="l">
              <a:lnSpc>
                <a:spcPct val="112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Incremental, version-aware indexing from day one</a:t>
            </a:r>
          </a:p>
        </p:txBody>
      </p:sp>
      <p:sp>
        <p:nvSpPr>
          <p:cNvPr id="547" name="box547"/>
          <p:cNvSpPr/>
          <p:nvPr/>
        </p:nvSpPr>
        <p:spPr>
          <a:xfrm>
            <a:off x="6236000" y="3980000"/>
            <a:ext cx="5117800" cy="1350000"/>
          </a:xfrm>
          <a:prstGeom prst="roundRect">
            <a:avLst>
              <a:gd fmla="val 6500" name="adj"/>
            </a:avLst>
          </a:prstGeom>
          <a:solidFill>
            <a:srgbClr val="FFFFFF"/>
          </a:solidFill>
          <a:ln w="25400" cap="flat" cmpd="sng">
            <a:solidFill>
              <a:srgbClr val="6D28D9"/>
            </a:solidFill>
            <a:prstDash val="solid"/>
          </a:ln>
        </p:spPr>
        <p:txBody>
          <a:bodyPr anchorCtr="0" anchor="ctr" bIns="45720" lIns="137160" spcFirstLastPara="1" rIns="137160" wrap="square" tIns="45720">
            <a:normAutofit fontScale="100000"/>
          </a:bodyPr>
          <a:lstStyle/>
          <a:p>
            <a:pPr indent="0" lvl="0" marL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Grounded in literature</a:t>
            </a:r>
          </a:p>
          <a:p>
            <a:pPr indent="0" lvl="0" marL="0" rtl="0" algn="l">
              <a:lnSpc>
                <a:spcPct val="112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5 independent research streams — citations on request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b="1" lang="en-US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Checklist- Updated on Public GitHub</a:t>
            </a:r>
            <a:endParaRPr/>
          </a:p>
        </p:txBody>
      </p:sp>
      <p:sp>
        <p:nvSpPr>
          <p:cNvPr id="156" name="Google Shape;156;p1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77800" lvl="0" marL="177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3637E"/>
              </a:buClr>
              <a:buSzPts val="2800"/>
              <a:buChar char="•"/>
            </a:pPr>
            <a:r>
              <a:rPr lang="en-US" sz="280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Working prototype code — public or shared GitHub repo — No</a:t>
            </a:r>
            <a:endParaRPr sz="2800"/>
          </a:p>
          <a:p>
            <a:pPr indent="-177800" lvl="0" marL="177800" rtl="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63637E"/>
              </a:buClr>
              <a:buSzPts val="2800"/>
              <a:buChar char="•"/>
            </a:pPr>
            <a:r>
              <a:rPr lang="en-US" sz="280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README with reproducible setup instructions — No</a:t>
            </a:r>
            <a:endParaRPr sz="2800"/>
          </a:p>
          <a:p>
            <a:pPr indent="-177800" lvl="0" marL="177800" rtl="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63637E"/>
              </a:buClr>
              <a:buSzPts val="2800"/>
              <a:buChar char="•"/>
            </a:pPr>
            <a:r>
              <a:rPr lang="en-US" sz="280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Demo video, max 5 minutes — No</a:t>
            </a:r>
            <a:endParaRPr sz="2800"/>
          </a:p>
          <a:p>
            <a:pPr indent="-177800" lvl="0" marL="177800" rtl="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63637E"/>
              </a:buClr>
              <a:buSzPts val="2800"/>
              <a:buChar char="•"/>
            </a:pPr>
            <a:r>
              <a:rPr lang="en-US" sz="280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Presentation file (PPT or PDF) — Yes</a:t>
            </a:r>
            <a:endParaRPr sz="2800"/>
          </a:p>
          <a:p>
            <a:pPr indent="0" lvl="0" marL="0" rtl="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2"/>
          <p:cNvSpPr txBox="1"/>
          <p:nvPr/>
        </p:nvSpPr>
        <p:spPr>
          <a:xfrm>
            <a:off x="1046181" y="3730214"/>
            <a:ext cx="676656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42B"/>
              </a:buClr>
              <a:buSzPts val="4600"/>
              <a:buFont typeface="Arial"/>
              <a:buNone/>
            </a:pPr>
            <a:r>
              <a:rPr b="1" i="0" lang="en-US" sz="4600" u="none" cap="none" strike="noStrike">
                <a:solidFill>
                  <a:srgbClr val="14142B"/>
                </a:solidFill>
                <a:latin typeface="Arial"/>
                <a:ea typeface="Arial"/>
                <a:cs typeface="Arial"/>
                <a:sym typeface="Arial"/>
              </a:rPr>
              <a:t>Thank you</a:t>
            </a:r>
            <a:endParaRPr b="0" i="0" sz="4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2"/>
          <p:cNvSpPr txBox="1"/>
          <p:nvPr/>
        </p:nvSpPr>
        <p:spPr>
          <a:xfrm>
            <a:off x="777240" y="5897880"/>
            <a:ext cx="106070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3637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Organised by the Language AI Team and the PRISM Team, Samsung R&amp;D Institute India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2026-09-07T12:01:01Z</dcterms:created>
  <dc:creator>Binny Lakra/PRISM /SRI-Bangalore/Professional/Samsung Electronics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SCPROP">
    <vt:lpwstr>NSCCustomProperty</vt:lpwstr>
  </property>
</Properties>
</file>